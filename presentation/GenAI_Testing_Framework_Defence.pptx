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</c:v>
                </c:pt>
              </c:strCache>
            </c:strRef>
          </c:tx>
          <c:spPr>
            <a:ln w="31750">
              <a:solidFill>
                <a:srgbClr val="2F5FE0"/>
              </a:solidFill>
            </a:ln>
          </c:spPr>
          <c:cat>
            <c:strRef>
              <c:f>Sheet1!$A$2:$A$6</c:f>
              <c:strCache>
                <c:ptCount val="5"/>
                <c:pt idx="0">
                  <c:v>LLM</c:v>
                </c:pt>
                <c:pt idx="1">
                  <c:v>RAG</c:v>
                </c:pt>
                <c:pt idx="2">
                  <c:v>Hybrid</c:v>
                </c:pt>
                <c:pt idx="3">
                  <c:v>LoRA</c:v>
                </c:pt>
                <c:pt idx="4">
                  <c:v>LoRA+RAG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71</c:v>
                </c:pt>
                <c:pt idx="1">
                  <c:v>79</c:v>
                </c:pt>
                <c:pt idx="2">
                  <c:v>86</c:v>
                </c:pt>
                <c:pt idx="3">
                  <c:v>81</c:v>
                </c:pt>
                <c:pt idx="4">
                  <c:v>88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Branch</c:v>
                </c:pt>
              </c:strCache>
            </c:strRef>
          </c:tx>
          <c:spPr>
            <a:ln w="31750">
              <a:solidFill>
                <a:srgbClr val="F2A431"/>
              </a:solidFill>
            </a:ln>
          </c:spPr>
          <c:cat>
            <c:strRef>
              <c:f>Sheet1!$A$2:$A$6</c:f>
              <c:strCache>
                <c:ptCount val="5"/>
                <c:pt idx="0">
                  <c:v>LLM</c:v>
                </c:pt>
                <c:pt idx="1">
                  <c:v>RAG</c:v>
                </c:pt>
                <c:pt idx="2">
                  <c:v>Hybrid</c:v>
                </c:pt>
                <c:pt idx="3">
                  <c:v>LoRA</c:v>
                </c:pt>
                <c:pt idx="4">
                  <c:v>LoRA+RAG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63</c:v>
                </c:pt>
                <c:pt idx="1">
                  <c:v>70</c:v>
                </c:pt>
                <c:pt idx="2">
                  <c:v>82</c:v>
                </c:pt>
                <c:pt idx="3">
                  <c:v>75</c:v>
                </c:pt>
                <c:pt idx="4">
                  <c:v>84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Endpoint</c:v>
                </c:pt>
              </c:strCache>
            </c:strRef>
          </c:tx>
          <c:spPr>
            <a:ln w="31750">
              <a:solidFill>
                <a:srgbClr val="12B3A0"/>
              </a:solidFill>
            </a:ln>
          </c:spPr>
          <c:cat>
            <c:strRef>
              <c:f>Sheet1!$A$2:$A$6</c:f>
              <c:strCache>
                <c:ptCount val="5"/>
                <c:pt idx="0">
                  <c:v>LLM</c:v>
                </c:pt>
                <c:pt idx="1">
                  <c:v>RAG</c:v>
                </c:pt>
                <c:pt idx="2">
                  <c:v>Hybrid</c:v>
                </c:pt>
                <c:pt idx="3">
                  <c:v>LoRA</c:v>
                </c:pt>
                <c:pt idx="4">
                  <c:v>LoRA+RAG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68</c:v>
                </c:pt>
                <c:pt idx="1">
                  <c:v>74</c:v>
                </c:pt>
                <c:pt idx="2">
                  <c:v>88</c:v>
                </c:pt>
                <c:pt idx="3">
                  <c:v>80</c:v>
                </c:pt>
                <c:pt idx="4">
                  <c:v>91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CE2EC"/>
            </a:solidFill>
          </a:ln>
        </c:spPr>
        <c:txPr>
          <a:bodyPr/>
          <a:lstStyle/>
          <a:p>
            <a:pPr>
              <a:defRPr sz="1100">
                <a:solidFill>
                  <a:srgbClr val="1F2A44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95.0"/>
          <c:min val="55.0"/>
        </c:scaling>
        <c:delete val="0"/>
        <c:axPos val="l"/>
        <c:majorGridlines>
          <c:spPr>
            <a:ln w="9525">
              <a:solidFill>
                <a:srgbClr val="EDF0F6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7C889F"/>
                </a:solidFill>
              </a:defRPr>
            </a:pPr>
          </a:p>
        </c:txPr>
        <c:crossAx val="2118791784"/>
        <c:crosses val="autoZero"/>
        <c:majorUnit val="10.0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Mutation</c:v>
                </c:pt>
              </c:strCache>
            </c:strRef>
          </c:tx>
          <c:dPt>
            <c:idx val="0"/>
            <c:spPr>
              <a:solidFill>
                <a:srgbClr val="2F5FE0"/>
              </a:solidFill>
            </c:spPr>
          </c:dPt>
          <c:dPt>
            <c:idx val="1"/>
            <c:spPr>
              <a:solidFill>
                <a:srgbClr val="12B3A0"/>
              </a:solidFill>
            </c:spPr>
          </c:dPt>
          <c:dPt>
            <c:idx val="2"/>
            <c:spPr>
              <a:solidFill>
                <a:srgbClr val="F2A431"/>
              </a:solidFill>
            </c:spPr>
          </c:dPt>
          <c:dPt>
            <c:idx val="3"/>
            <c:spPr>
              <a:solidFill>
                <a:srgbClr val="8A6CF0"/>
              </a:solidFill>
            </c:spPr>
          </c:dPt>
          <c:dPt>
            <c:idx val="4"/>
            <c:spPr>
              <a:solidFill>
                <a:srgbClr val="F0608A"/>
              </a:solidFill>
            </c:spPr>
          </c:dPt>
          <c:cat>
            <c:strRef>
              <c:f>Sheet1!$A$2:$A$6</c:f>
              <c:strCache>
                <c:ptCount val="5"/>
                <c:pt idx="0">
                  <c:v>LLM</c:v>
                </c:pt>
                <c:pt idx="1">
                  <c:v>RAG</c:v>
                </c:pt>
                <c:pt idx="2">
                  <c:v>Hybrid</c:v>
                </c:pt>
                <c:pt idx="3">
                  <c:v>LoRA</c:v>
                </c:pt>
                <c:pt idx="4">
                  <c:v>LoRA+RAG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58</c:v>
                </c:pt>
                <c:pt idx="1">
                  <c:v>68</c:v>
                </c:pt>
                <c:pt idx="2">
                  <c:v>77</c:v>
                </c:pt>
                <c:pt idx="3">
                  <c:v>72</c:v>
                </c:pt>
                <c:pt idx="4">
                  <c:v>80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 b="1">
                  <a:solidFill>
                    <a:srgbClr val="1F2A4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CE2EC"/>
            </a:solidFill>
          </a:ln>
        </c:spPr>
        <c:txPr>
          <a:bodyPr/>
          <a:lstStyle/>
          <a:p>
            <a:pPr>
              <a:defRPr sz="1100">
                <a:solidFill>
                  <a:srgbClr val="1F2A4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Segoe U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Validity</c:v>
                </c:pt>
              </c:strCache>
            </c:strRef>
          </c:tx>
          <c:dPt>
            <c:idx val="0"/>
            <c:spPr>
              <a:solidFill>
                <a:srgbClr val="2F5FE0"/>
              </a:solidFill>
            </c:spPr>
          </c:dPt>
          <c:dPt>
            <c:idx val="1"/>
            <c:spPr>
              <a:solidFill>
                <a:srgbClr val="12B3A0"/>
              </a:solidFill>
            </c:spPr>
          </c:dPt>
          <c:dPt>
            <c:idx val="2"/>
            <c:spPr>
              <a:solidFill>
                <a:srgbClr val="F2A431"/>
              </a:solidFill>
            </c:spPr>
          </c:dPt>
          <c:dPt>
            <c:idx val="3"/>
            <c:spPr>
              <a:solidFill>
                <a:srgbClr val="8A6CF0"/>
              </a:solidFill>
            </c:spPr>
          </c:dPt>
          <c:dPt>
            <c:idx val="4"/>
            <c:spPr>
              <a:solidFill>
                <a:srgbClr val="F0608A"/>
              </a:solidFill>
            </c:spPr>
          </c:dPt>
          <c:cat>
            <c:strRef>
              <c:f>Sheet1!$A$2:$A$6</c:f>
              <c:strCache>
                <c:ptCount val="5"/>
                <c:pt idx="0">
                  <c:v>LLM</c:v>
                </c:pt>
                <c:pt idx="1">
                  <c:v>RAG</c:v>
                </c:pt>
                <c:pt idx="2">
                  <c:v>Hybrid</c:v>
                </c:pt>
                <c:pt idx="3">
                  <c:v>LoRA</c:v>
                </c:pt>
                <c:pt idx="4">
                  <c:v>LoRA+RAG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85</c:v>
                </c:pt>
                <c:pt idx="1">
                  <c:v>91</c:v>
                </c:pt>
                <c:pt idx="2">
                  <c:v>96</c:v>
                </c:pt>
                <c:pt idx="3">
                  <c:v>93</c:v>
                </c:pt>
                <c:pt idx="4">
                  <c:v>97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 b="1">
                  <a:solidFill>
                    <a:srgbClr val="1F2A4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CE2EC"/>
            </a:solidFill>
          </a:ln>
        </c:spPr>
        <c:txPr>
          <a:bodyPr/>
          <a:lstStyle/>
          <a:p>
            <a:pPr>
              <a:defRPr sz="1100">
                <a:solidFill>
                  <a:srgbClr val="1F2A4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100">
          <a:latin typeface="Segoe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24247" y="50292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72140"/>
                </a:solidFill>
                <a:latin typeface="Segoe UI"/>
              </a:rPr>
              <a:t>SLIIT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38647" y="1069848"/>
            <a:ext cx="914400" cy="45720"/>
          </a:xfrm>
          <a:prstGeom prst="roundRect">
            <a:avLst>
              <a:gd name="adj" fmla="val 50000"/>
            </a:avLst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24247" y="116128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4A5670"/>
                </a:solidFill>
                <a:latin typeface="Segoe UI"/>
              </a:rPr>
              <a:t>Sri Lanka Institute of Information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F5FE0"/>
                </a:solidFill>
                <a:latin typeface="Consolas"/>
              </a:rPr>
              <a:t>MSc RESEARCH DEFENCE  ·  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59152"/>
            <a:ext cx="1072865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F2A44"/>
                </a:solidFill>
                <a:latin typeface="Segoe UI Light"/>
              </a:rPr>
              <a:t>Generative AI-Augmented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F2A44"/>
                </a:solidFill>
                <a:latin typeface="Segoe UI Light"/>
              </a:rPr>
              <a:t>Testing Framework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41367" y="4041648"/>
            <a:ext cx="1554480" cy="64008"/>
          </a:xfrm>
          <a:prstGeom prst="roundRect">
            <a:avLst>
              <a:gd name="adj" fmla="val 50000"/>
            </a:avLst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95847" y="4041648"/>
            <a:ext cx="1554480" cy="64008"/>
          </a:xfrm>
          <a:prstGeom prst="roundRect">
            <a:avLst>
              <a:gd name="adj" fmla="val 50000"/>
            </a:avLst>
          </a:prstGeom>
          <a:solidFill>
            <a:srgbClr val="12B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224528"/>
            <a:ext cx="103628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4A5670"/>
                </a:solidFill>
                <a:latin typeface="Segoe UI"/>
              </a:rPr>
              <a:t>for Enterprise Backend Systems — Design, Implementation &amp; Evaluation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0520" y="4892040"/>
            <a:ext cx="502005" cy="310896"/>
          </a:xfrm>
          <a:prstGeom prst="roundRect">
            <a:avLst>
              <a:gd name="adj" fmla="val 50000"/>
            </a:avLst>
          </a:prstGeom>
          <a:solidFill>
            <a:srgbClr val="EAEFFB"/>
          </a:solidFill>
          <a:ln w="9525">
            <a:solidFill>
              <a:srgbClr val="ABB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4892040"/>
            <a:ext cx="50200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F5FE0"/>
                </a:solidFill>
                <a:latin typeface="Consolas"/>
              </a:rPr>
              <a:t>LLM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72253" y="4892040"/>
            <a:ext cx="502005" cy="310896"/>
          </a:xfrm>
          <a:prstGeom prst="roundRect">
            <a:avLst>
              <a:gd name="adj" fmla="val 50000"/>
            </a:avLst>
          </a:prstGeom>
          <a:solidFill>
            <a:srgbClr val="E7F7F5"/>
          </a:solidFill>
          <a:ln w="9525">
            <a:solidFill>
              <a:srgbClr val="A0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2253" y="4892040"/>
            <a:ext cx="50200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2B3A0"/>
                </a:solidFill>
                <a:latin typeface="Consolas"/>
              </a:rPr>
              <a:t>RAG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83987" y="4892040"/>
            <a:ext cx="729691" cy="310896"/>
          </a:xfrm>
          <a:prstGeom prst="roundRect">
            <a:avLst>
              <a:gd name="adj" fmla="val 50000"/>
            </a:avLst>
          </a:prstGeom>
          <a:solidFill>
            <a:srgbClr val="FDF5EA"/>
          </a:solidFill>
          <a:ln w="9525">
            <a:solidFill>
              <a:srgbClr val="F9DA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83987" y="4892040"/>
            <a:ext cx="72969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2A431"/>
                </a:solidFill>
                <a:latin typeface="Consolas"/>
              </a:rPr>
              <a:t>HYBRID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406" y="4892040"/>
            <a:ext cx="577900" cy="310896"/>
          </a:xfrm>
          <a:prstGeom prst="roundRect">
            <a:avLst>
              <a:gd name="adj" fmla="val 50000"/>
            </a:avLst>
          </a:prstGeom>
          <a:solidFill>
            <a:srgbClr val="F3F0FD"/>
          </a:solidFill>
          <a:ln w="9525">
            <a:solidFill>
              <a:srgbClr val="D0C4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23406" y="4892040"/>
            <a:ext cx="5779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6CF0"/>
                </a:solidFill>
                <a:latin typeface="Consolas"/>
              </a:rPr>
              <a:t>LoRA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11035" y="4892040"/>
            <a:ext cx="1033272" cy="310896"/>
          </a:xfrm>
          <a:prstGeom prst="roundRect">
            <a:avLst>
              <a:gd name="adj" fmla="val 50000"/>
            </a:avLst>
          </a:prstGeom>
          <a:solidFill>
            <a:srgbClr val="FDEFF3"/>
          </a:solidFill>
          <a:ln w="9525">
            <a:solidFill>
              <a:srgbClr val="F9B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11035" y="4892040"/>
            <a:ext cx="1033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0608A"/>
                </a:solidFill>
                <a:latin typeface="Consolas"/>
              </a:rPr>
              <a:t>LoRA + RAG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989320"/>
            <a:ext cx="10362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C889F"/>
                </a:solidFill>
                <a:latin typeface="Segoe UI"/>
              </a:rPr>
              <a:t>Shanaka Madhusanka  ·  MS24901062  ·  Supervisor: Dr. Dinuka R. Wijendra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Segoe UI"/>
              </a:rPr>
              <a:t>MS24901062  ·  Shanaka Madhusanka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5566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Consolas"/>
              </a:rPr>
              <a:t>02 /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F5FE0"/>
                </a:solidFill>
                <a:latin typeface="Consolas"/>
              </a:rPr>
              <a:t>RESEARCHER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768096"/>
            <a:ext cx="603504" cy="45720"/>
          </a:xfrm>
          <a:prstGeom prst="roundRect">
            <a:avLst>
              <a:gd name="adj" fmla="val 50000"/>
            </a:avLst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950976"/>
            <a:ext cx="566928" cy="566928"/>
          </a:xfrm>
          <a:prstGeom prst="ellipse">
            <a:avLst/>
          </a:prstGeom>
          <a:solidFill>
            <a:srgbClr val="E1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95097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>
                <a:solidFill>
                  <a:srgbClr val="2F5FE0"/>
                </a:solidFill>
                <a:latin typeface="Segoe MDL2 Assets"/>
                <a:ea typeface="Segoe MDL2 Assets"/>
                <a:cs typeface="Segoe MDL2 Assets"/>
              </a:rPr>
              <a:t>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950976"/>
            <a:ext cx="9692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2A44"/>
                </a:solidFill>
                <a:latin typeface="Segoe UI Light"/>
              </a:rPr>
              <a:t>Researcher &amp; supervisor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5943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Segoe UI Light"/>
              </a:rPr>
              <a:t>Kariyawasam Ketangodage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Segoe UI Light"/>
              </a:rPr>
              <a:t>Shanaka Madhusanka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5943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A5670"/>
                </a:solidFill>
                <a:latin typeface="Segoe UI"/>
              </a:rPr>
              <a:t>Reg. No. </a:t>
            </a:r>
            <a:r>
              <a:rPr sz="1300" b="1" i="0">
                <a:solidFill>
                  <a:srgbClr val="1F2A44"/>
                </a:solidFill>
                <a:latin typeface="Segoe UI"/>
              </a:rPr>
              <a:t>MS24901062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37560"/>
            <a:ext cx="57607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900">
                <a:solidFill>
                  <a:srgbClr val="2F5FE0"/>
                </a:solidFill>
                <a:latin typeface="Segoe UI"/>
              </a:rPr>
              <a:t>▪  </a:t>
            </a:r>
            <a:r>
              <a:rPr sz="1250" b="0">
                <a:solidFill>
                  <a:srgbClr val="4A5670"/>
                </a:solidFill>
                <a:latin typeface="Segoe UI"/>
              </a:rPr>
              <a:t>MSc in IT — Enterprise Application Development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900">
                <a:solidFill>
                  <a:srgbClr val="2F5FE0"/>
                </a:solidFill>
                <a:latin typeface="Segoe UI"/>
              </a:rPr>
              <a:t>▪  </a:t>
            </a:r>
            <a:r>
              <a:rPr sz="1250" b="0">
                <a:solidFill>
                  <a:srgbClr val="4A5670"/>
                </a:solidFill>
                <a:latin typeface="Segoe UI"/>
              </a:rPr>
              <a:t>Faculty of Computing, </a:t>
            </a:r>
            <a:r>
              <a:rPr sz="1250" b="1">
                <a:solidFill>
                  <a:srgbClr val="1F2A44"/>
                </a:solidFill>
                <a:latin typeface="Segoe UI"/>
              </a:rPr>
              <a:t>SLIIT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900">
                <a:solidFill>
                  <a:srgbClr val="2F5FE0"/>
                </a:solidFill>
                <a:latin typeface="Segoe UI"/>
              </a:rPr>
              <a:t>▪  </a:t>
            </a:r>
            <a:r>
              <a:rPr sz="1250" b="0">
                <a:solidFill>
                  <a:srgbClr val="4A5670"/>
                </a:solidFill>
                <a:latin typeface="Segoe UI"/>
              </a:rPr>
              <a:t>Module: </a:t>
            </a:r>
            <a:r>
              <a:rPr sz="1250" b="1">
                <a:solidFill>
                  <a:srgbClr val="1F2A44"/>
                </a:solidFill>
                <a:latin typeface="Segoe UI"/>
              </a:rPr>
              <a:t>IT6010 — Research Project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828800"/>
            <a:ext cx="4050791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0" y="1828800"/>
            <a:ext cx="4050791" cy="91440"/>
          </a:xfrm>
          <a:prstGeom prst="roundRect">
            <a:avLst>
              <a:gd name="adj" fmla="val 50000"/>
            </a:avLst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543800" y="2121408"/>
            <a:ext cx="512064" cy="512064"/>
          </a:xfrm>
          <a:prstGeom prst="ellipse">
            <a:avLst/>
          </a:prstGeom>
          <a:solidFill>
            <a:srgbClr val="DF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2121408"/>
            <a:ext cx="512064" cy="5120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2F5FE0"/>
                </a:solidFill>
                <a:latin typeface="Segoe MDL2 Assets"/>
                <a:ea typeface="Segoe MDL2 Assets"/>
                <a:cs typeface="Segoe MDL2 Assets"/>
              </a:rPr>
              <a:t>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21408"/>
            <a:ext cx="29260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2F5FE0"/>
                </a:solidFill>
                <a:latin typeface="Consolas"/>
              </a:rPr>
              <a:t>SUPERVISOR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743200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F2A44"/>
                </a:solidFill>
                <a:latin typeface="Segoe UI Semibold"/>
              </a:rPr>
              <a:t>Dr. Dinuka R. Wijendra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3200400"/>
            <a:ext cx="36118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900">
                <a:solidFill>
                  <a:srgbClr val="12B3A0"/>
                </a:solidFill>
                <a:latin typeface="Segoe UI"/>
              </a:rPr>
              <a:t>▪  </a:t>
            </a:r>
            <a:r>
              <a:rPr sz="1100" b="0">
                <a:solidFill>
                  <a:srgbClr val="4A5670"/>
                </a:solidFill>
                <a:latin typeface="Segoe UI"/>
              </a:rPr>
              <a:t>PhD, University of Colombo School of Computing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900">
                <a:solidFill>
                  <a:srgbClr val="12B3A0"/>
                </a:solidFill>
                <a:latin typeface="Segoe UI"/>
              </a:rPr>
              <a:t>▪  </a:t>
            </a:r>
            <a:r>
              <a:rPr sz="1100" b="0">
                <a:solidFill>
                  <a:srgbClr val="4A5670"/>
                </a:solidFill>
                <a:latin typeface="Segoe UI"/>
              </a:rPr>
              <a:t>Senior Lecturer (Higher Grade)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900">
                <a:solidFill>
                  <a:srgbClr val="12B3A0"/>
                </a:solidFill>
                <a:latin typeface="Segoe UI"/>
              </a:rPr>
              <a:t>▪  </a:t>
            </a:r>
            <a:r>
              <a:rPr sz="1100" b="0">
                <a:solidFill>
                  <a:srgbClr val="4A5670"/>
                </a:solidFill>
                <a:latin typeface="Segoe UI"/>
              </a:rPr>
              <a:t>Faculty of Computing | IT, SLIIT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Segoe UI"/>
              </a:rPr>
              <a:t>MS24901062  ·  Shanaka Madhusanka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5566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Consolas"/>
              </a:rPr>
              <a:t>03 / 33</a:t>
            </a:r>
          </a:p>
        </p:txBody>
      </p:sp>
      <p:sp>
        <p:nvSpPr>
          <p:cNvPr id="5" name="Oval 4"/>
          <p:cNvSpPr/>
          <p:nvPr/>
        </p:nvSpPr>
        <p:spPr>
          <a:xfrm>
            <a:off x="5684367" y="1828800"/>
            <a:ext cx="822960" cy="822960"/>
          </a:xfrm>
          <a:prstGeom prst="ellipse">
            <a:avLst/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84367" y="1828800"/>
            <a:ext cx="822960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700">
                <a:solidFill>
                  <a:srgbClr val="FFFFFF"/>
                </a:solidFill>
                <a:latin typeface="Segoe MDL2 Assets"/>
                <a:ea typeface="Segoe MDL2 Assets"/>
                <a:cs typeface="Segoe MDL2 Assets"/>
              </a:rPr>
              <a:t>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F5FE0"/>
                </a:solidFill>
                <a:latin typeface="Consolas"/>
              </a:rPr>
              <a:t>PART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03628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1F2A44"/>
                </a:solidFill>
                <a:latin typeface="Segoe UI Light"/>
              </a:rPr>
              <a:t>Introduction &amp; Motivation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41367" y="4343400"/>
            <a:ext cx="1554480" cy="64008"/>
          </a:xfrm>
          <a:prstGeom prst="roundRect">
            <a:avLst>
              <a:gd name="adj" fmla="val 50000"/>
            </a:avLst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95847" y="4343400"/>
            <a:ext cx="1554480" cy="64008"/>
          </a:xfrm>
          <a:prstGeom prst="roundRect">
            <a:avLst>
              <a:gd name="adj" fmla="val 50000"/>
            </a:avLst>
          </a:prstGeom>
          <a:solidFill>
            <a:srgbClr val="12B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Segoe UI"/>
              </a:rPr>
              <a:t>MS24901062  ·  Shanaka Madhusanka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5566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Consolas"/>
              </a:rPr>
              <a:t>04 /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F5FE0"/>
                </a:solidFill>
                <a:latin typeface="Consolas"/>
              </a:rPr>
              <a:t>BACKGROUND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768096"/>
            <a:ext cx="603504" cy="45720"/>
          </a:xfrm>
          <a:prstGeom prst="roundRect">
            <a:avLst>
              <a:gd name="adj" fmla="val 50000"/>
            </a:avLst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950976"/>
            <a:ext cx="566928" cy="566928"/>
          </a:xfrm>
          <a:prstGeom prst="ellipse">
            <a:avLst/>
          </a:prstGeom>
          <a:solidFill>
            <a:srgbClr val="E1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95097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>
                <a:solidFill>
                  <a:srgbClr val="2F5FE0"/>
                </a:solidFill>
                <a:latin typeface="Segoe MDL2 Assets"/>
                <a:ea typeface="Segoe MDL2 Assets"/>
                <a:cs typeface="Segoe MDL2 Assets"/>
              </a:rPr>
              <a:t>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950976"/>
            <a:ext cx="9692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2A44"/>
                </a:solidFill>
                <a:latin typeface="Segoe UI Light"/>
              </a:rPr>
              <a:t>Why this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2A44"/>
                </a:solidFill>
                <a:latin typeface="Segoe UI Semibold"/>
              </a:rPr>
              <a:t>The setting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39696"/>
            <a:ext cx="57607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900">
                <a:solidFill>
                  <a:srgbClr val="2F5FE0"/>
                </a:solidFill>
                <a:latin typeface="Segoe UI"/>
              </a:rPr>
              <a:t>▪  </a:t>
            </a:r>
            <a:r>
              <a:rPr sz="1250" b="0">
                <a:solidFill>
                  <a:srgbClr val="4A5670"/>
                </a:solidFill>
                <a:latin typeface="Segoe UI"/>
              </a:rPr>
              <a:t>Enterprise backends run </a:t>
            </a:r>
            <a:r>
              <a:rPr sz="1250" b="1">
                <a:solidFill>
                  <a:srgbClr val="1F2A44"/>
                </a:solidFill>
                <a:latin typeface="Segoe UI"/>
              </a:rPr>
              <a:t>complex business rules</a:t>
            </a:r>
            <a:r>
              <a:rPr sz="1250" b="0">
                <a:solidFill>
                  <a:srgbClr val="4A5670"/>
                </a:solidFill>
                <a:latin typeface="Segoe UI"/>
              </a:rPr>
              <a:t>, distributed services &amp; heavy API traffic.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900">
                <a:solidFill>
                  <a:srgbClr val="2F5FE0"/>
                </a:solidFill>
                <a:latin typeface="Segoe UI"/>
              </a:rPr>
              <a:t>▪  </a:t>
            </a:r>
            <a:r>
              <a:rPr sz="1250" b="0">
                <a:solidFill>
                  <a:srgbClr val="4A5670"/>
                </a:solidFill>
                <a:latin typeface="Segoe UI"/>
              </a:rPr>
              <a:t>Agile / DevOps means </a:t>
            </a:r>
            <a:r>
              <a:rPr sz="1250" b="1">
                <a:solidFill>
                  <a:srgbClr val="1F2A44"/>
                </a:solidFill>
                <a:latin typeface="Segoe UI"/>
              </a:rPr>
              <a:t>constant change</a:t>
            </a:r>
            <a:r>
              <a:rPr sz="1250" b="0">
                <a:solidFill>
                  <a:srgbClr val="4A5670"/>
                </a:solidFill>
                <a:latin typeface="Segoe UI"/>
              </a:rPr>
              <a:t> — suites fall behind.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0040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2A44"/>
                </a:solidFill>
                <a:latin typeface="Segoe UI Semibold"/>
              </a:rPr>
              <a:t>The opportunity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11296"/>
            <a:ext cx="57607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900">
                <a:solidFill>
                  <a:srgbClr val="12B3A0"/>
                </a:solidFill>
                <a:latin typeface="Segoe UI"/>
              </a:rPr>
              <a:t>▪  </a:t>
            </a:r>
            <a:r>
              <a:rPr sz="1250" b="0">
                <a:solidFill>
                  <a:srgbClr val="4A5670"/>
                </a:solidFill>
                <a:latin typeface="Segoe UI"/>
              </a:rPr>
              <a:t>LLMs can read requirements &amp; emit </a:t>
            </a:r>
            <a:r>
              <a:rPr sz="1250" b="1">
                <a:solidFill>
                  <a:srgbClr val="1F2A44"/>
                </a:solidFill>
                <a:latin typeface="Segoe UI"/>
              </a:rPr>
              <a:t>structured tests</a:t>
            </a:r>
            <a:r>
              <a:rPr sz="1250" b="0">
                <a:solidFill>
                  <a:srgbClr val="4A5670"/>
                </a:solidFill>
                <a:latin typeface="Segoe UI"/>
              </a:rPr>
              <a:t>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900">
                <a:solidFill>
                  <a:srgbClr val="12B3A0"/>
                </a:solidFill>
                <a:latin typeface="Segoe UI"/>
              </a:rPr>
              <a:t>▪  </a:t>
            </a:r>
            <a:r>
              <a:rPr sz="1250" b="0">
                <a:solidFill>
                  <a:srgbClr val="4A5670"/>
                </a:solidFill>
                <a:latin typeface="Segoe UI"/>
              </a:rPr>
              <a:t>Potential to cut effort &amp; surface hidden scenarios.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7200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2A44"/>
                </a:solidFill>
                <a:latin typeface="Segoe UI Semibold"/>
              </a:rPr>
              <a:t>The catch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82896"/>
            <a:ext cx="57607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900">
                <a:solidFill>
                  <a:srgbClr val="F2A431"/>
                </a:solidFill>
                <a:latin typeface="Segoe UI"/>
              </a:rPr>
              <a:t>▪  </a:t>
            </a:r>
            <a:r>
              <a:rPr sz="1250" b="0">
                <a:solidFill>
                  <a:srgbClr val="4A5670"/>
                </a:solidFill>
                <a:latin typeface="Segoe UI"/>
              </a:rPr>
              <a:t>Standalone LLMs lack </a:t>
            </a:r>
            <a:r>
              <a:rPr sz="1250" b="1">
                <a:solidFill>
                  <a:srgbClr val="1F2A44"/>
                </a:solidFill>
                <a:latin typeface="Segoe UI"/>
              </a:rPr>
              <a:t>system context</a:t>
            </a:r>
            <a:r>
              <a:rPr sz="1250" b="0">
                <a:solidFill>
                  <a:srgbClr val="4A5670"/>
                </a:solidFill>
                <a:latin typeface="Segoe UI"/>
              </a:rPr>
              <a:t> → incomplete tests.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057400"/>
            <a:ext cx="4050791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61504" y="2167128"/>
            <a:ext cx="493776" cy="493776"/>
          </a:xfrm>
          <a:prstGeom prst="ellipse">
            <a:avLst/>
          </a:prstGeom>
          <a:solidFill>
            <a:srgbClr val="DF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61504" y="2167128"/>
            <a:ext cx="493776" cy="49377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2F5FE0"/>
                </a:solidFill>
                <a:latin typeface="Segoe MDL2 Assets"/>
                <a:ea typeface="Segoe MDL2 Assets"/>
                <a:cs typeface="Segoe MDL2 Assets"/>
              </a:rPr>
              <a:t>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9" y="2112264"/>
            <a:ext cx="308152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F2A44"/>
                </a:solidFill>
                <a:latin typeface="Segoe UI Semibold"/>
              </a:rPr>
              <a:t>BA / requirement documents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7C889F"/>
                </a:solidFill>
                <a:latin typeface="Segoe UI"/>
              </a:rPr>
              <a:t>workflows · tables ·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752344"/>
            <a:ext cx="405079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4CDE0"/>
                </a:solidFill>
                <a:latin typeface="Segoe UI"/>
              </a:rPr>
              <a:t>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3081528"/>
            <a:ext cx="4050791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61504" y="3191256"/>
            <a:ext cx="493776" cy="493776"/>
          </a:xfrm>
          <a:prstGeom prst="ellipse">
            <a:avLst/>
          </a:prstGeom>
          <a:solidFill>
            <a:srgbClr val="D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61504" y="3191256"/>
            <a:ext cx="493776" cy="49377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12B3A0"/>
                </a:solidFill>
                <a:latin typeface="Segoe MDL2 Assets"/>
                <a:ea typeface="Segoe MDL2 Assets"/>
                <a:cs typeface="Segoe MDL2 Assets"/>
              </a:rPr>
              <a:t>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59" y="3136392"/>
            <a:ext cx="308152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F2A44"/>
                </a:solidFill>
                <a:latin typeface="Segoe UI Semibold"/>
              </a:rPr>
              <a:t>Generative AI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7C889F"/>
                </a:solidFill>
                <a:latin typeface="Segoe UI"/>
              </a:rPr>
              <a:t>comprehend &amp; generate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776472"/>
            <a:ext cx="405079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4CDE0"/>
                </a:solidFill>
                <a:latin typeface="Segoe UI"/>
              </a:rPr>
              <a:t>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4105656"/>
            <a:ext cx="4050791" cy="713232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61504" y="4215384"/>
            <a:ext cx="493776" cy="493776"/>
          </a:xfrm>
          <a:prstGeom prst="ellipse">
            <a:avLst/>
          </a:prstGeom>
          <a:solidFill>
            <a:srgbClr val="FC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61504" y="4215384"/>
            <a:ext cx="493776" cy="49377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F0608A"/>
                </a:solidFill>
                <a:latin typeface="Segoe MDL2 Assets"/>
                <a:ea typeface="Segoe MDL2 Assets"/>
                <a:cs typeface="Segoe MDL2 Assets"/>
              </a:rPr>
              <a:t>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59" y="4160520"/>
            <a:ext cx="308152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F2A44"/>
                </a:solidFill>
                <a:latin typeface="Segoe UI Semibold"/>
              </a:rPr>
              <a:t>Structured test cases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7C889F"/>
                </a:solidFill>
                <a:latin typeface="Segoe UI"/>
              </a:rPr>
              <a:t>faster · broader coverage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Segoe UI"/>
              </a:rPr>
              <a:t>MS24901062  ·  Shanaka Madhusanka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5566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Consolas"/>
              </a:rPr>
              <a:t>05 / 33</a:t>
            </a:r>
          </a:p>
        </p:txBody>
      </p:sp>
      <p:sp>
        <p:nvSpPr>
          <p:cNvPr id="5" name="Oval 4"/>
          <p:cNvSpPr/>
          <p:nvPr/>
        </p:nvSpPr>
        <p:spPr>
          <a:xfrm>
            <a:off x="5684367" y="1828800"/>
            <a:ext cx="822960" cy="822960"/>
          </a:xfrm>
          <a:prstGeom prst="ellipse">
            <a:avLst/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84367" y="1828800"/>
            <a:ext cx="822960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700">
                <a:solidFill>
                  <a:srgbClr val="FFFFFF"/>
                </a:solidFill>
                <a:latin typeface="Segoe MDL2 Assets"/>
                <a:ea typeface="Segoe MDL2 Assets"/>
                <a:cs typeface="Segoe MDL2 Assets"/>
              </a:rPr>
              <a:t>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F5FE0"/>
                </a:solidFill>
                <a:latin typeface="Consolas"/>
              </a:rPr>
              <a:t>PART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03628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1F2A44"/>
                </a:solidFill>
                <a:latin typeface="Segoe UI Light"/>
              </a:rPr>
              <a:t>Research Problem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41367" y="4343400"/>
            <a:ext cx="1554480" cy="64008"/>
          </a:xfrm>
          <a:prstGeom prst="roundRect">
            <a:avLst>
              <a:gd name="adj" fmla="val 50000"/>
            </a:avLst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95847" y="4343400"/>
            <a:ext cx="1554480" cy="64008"/>
          </a:xfrm>
          <a:prstGeom prst="roundRect">
            <a:avLst>
              <a:gd name="adj" fmla="val 50000"/>
            </a:avLst>
          </a:prstGeom>
          <a:solidFill>
            <a:srgbClr val="12B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Segoe UI"/>
              </a:rPr>
              <a:t>MS24901062  ·  Shanaka Madhusanka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5566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Consolas"/>
              </a:rPr>
              <a:t>06 /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F5FE0"/>
                </a:solidFill>
                <a:latin typeface="Consolas"/>
              </a:rPr>
              <a:t>PROBLEM STATEMENT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768096"/>
            <a:ext cx="603504" cy="45720"/>
          </a:xfrm>
          <a:prstGeom prst="roundRect">
            <a:avLst>
              <a:gd name="adj" fmla="val 50000"/>
            </a:avLst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950976"/>
            <a:ext cx="566928" cy="566928"/>
          </a:xfrm>
          <a:prstGeom prst="ellipse">
            <a:avLst/>
          </a:prstGeom>
          <a:solidFill>
            <a:srgbClr val="FD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95097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>
                <a:solidFill>
                  <a:srgbClr val="F2A431"/>
                </a:solidFill>
                <a:latin typeface="Segoe MDL2 Assets"/>
                <a:ea typeface="Segoe MDL2 Assets"/>
                <a:cs typeface="Segoe MDL2 Assets"/>
              </a:rPr>
              <a:t>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950976"/>
            <a:ext cx="9692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2A44"/>
                </a:solidFill>
                <a:latin typeface="Segoe UI Light"/>
              </a:rPr>
              <a:t>Manual test design doesn't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2A44"/>
                </a:solidFill>
                <a:latin typeface="Segoe UI Semibold"/>
              </a:rPr>
              <a:t>Slow &amp; inconsistent 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39696"/>
            <a:ext cx="57607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900">
                <a:solidFill>
                  <a:srgbClr val="2F5FE0"/>
                </a:solidFill>
                <a:latin typeface="Segoe UI"/>
              </a:rPr>
              <a:t>▪  </a:t>
            </a:r>
            <a:r>
              <a:rPr sz="1250" b="0">
                <a:solidFill>
                  <a:srgbClr val="4A5670"/>
                </a:solidFill>
                <a:latin typeface="Segoe UI"/>
              </a:rPr>
              <a:t>Decoding long requirement artefacts is </a:t>
            </a:r>
            <a:r>
              <a:rPr sz="1250" b="1">
                <a:solidFill>
                  <a:srgbClr val="1F2A44"/>
                </a:solidFill>
                <a:latin typeface="Segoe UI"/>
              </a:rPr>
              <a:t>expertise-heavy</a:t>
            </a:r>
            <a:r>
              <a:rPr sz="1250" b="0">
                <a:solidFill>
                  <a:srgbClr val="4A5670"/>
                </a:solidFill>
                <a:latin typeface="Segoe UI"/>
              </a:rPr>
              <a:t>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900">
                <a:solidFill>
                  <a:srgbClr val="2F5FE0"/>
                </a:solidFill>
                <a:latin typeface="Segoe UI"/>
              </a:rPr>
              <a:t>▪  </a:t>
            </a:r>
            <a:r>
              <a:rPr sz="1250" b="0">
                <a:solidFill>
                  <a:srgbClr val="4A5670"/>
                </a:solidFill>
                <a:latin typeface="Segoe UI"/>
              </a:rPr>
              <a:t>Leads to </a:t>
            </a:r>
            <a:r>
              <a:rPr sz="1250" b="1">
                <a:solidFill>
                  <a:srgbClr val="1F2A44"/>
                </a:solidFill>
                <a:latin typeface="Segoe UI"/>
              </a:rPr>
              <a:t>inconsistency &amp; test-incompleteness</a:t>
            </a:r>
            <a:r>
              <a:rPr sz="1250" b="0">
                <a:solidFill>
                  <a:srgbClr val="4A5670"/>
                </a:solidFill>
                <a:latin typeface="Segoe UI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0040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2A44"/>
                </a:solidFill>
                <a:latin typeface="Segoe UI Semibold"/>
              </a:rPr>
              <a:t>LLMs not yet proven for enterprise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11296"/>
            <a:ext cx="57607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900">
                <a:solidFill>
                  <a:srgbClr val="F2A431"/>
                </a:solidFill>
                <a:latin typeface="Segoe UI"/>
              </a:rPr>
              <a:t>▪  </a:t>
            </a:r>
            <a:r>
              <a:rPr sz="1250" b="0">
                <a:solidFill>
                  <a:srgbClr val="4A5670"/>
                </a:solidFill>
                <a:latin typeface="Segoe UI"/>
              </a:rPr>
              <a:t>Most work uses </a:t>
            </a:r>
            <a:r>
              <a:rPr sz="1250" b="1">
                <a:solidFill>
                  <a:srgbClr val="1F2A44"/>
                </a:solidFill>
                <a:latin typeface="Segoe UI"/>
              </a:rPr>
              <a:t>toy inputs</a:t>
            </a:r>
            <a:r>
              <a:rPr sz="1250" b="0">
                <a:solidFill>
                  <a:srgbClr val="4A5670"/>
                </a:solidFill>
                <a:latin typeface="Segoe UI"/>
              </a:rPr>
              <a:t> (user stories, snippets).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900">
                <a:solidFill>
                  <a:srgbClr val="F2A431"/>
                </a:solidFill>
                <a:latin typeface="Segoe UI"/>
              </a:rPr>
              <a:t>▪  </a:t>
            </a:r>
            <a:r>
              <a:rPr sz="1250" b="0">
                <a:solidFill>
                  <a:srgbClr val="4A5670"/>
                </a:solidFill>
                <a:latin typeface="Segoe UI"/>
              </a:rPr>
              <a:t>No </a:t>
            </a:r>
            <a:r>
              <a:rPr sz="1250" b="1">
                <a:solidFill>
                  <a:srgbClr val="1F2A44"/>
                </a:solidFill>
                <a:latin typeface="Segoe UI"/>
              </a:rPr>
              <a:t>like-for-like comparison</a:t>
            </a:r>
            <a:r>
              <a:rPr sz="1250" b="0">
                <a:solidFill>
                  <a:srgbClr val="4A5670"/>
                </a:solidFill>
                <a:latin typeface="Segoe UI"/>
              </a:rPr>
              <a:t> of architectures.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617720"/>
            <a:ext cx="5760720" cy="1097280"/>
          </a:xfrm>
          <a:prstGeom prst="roundRect">
            <a:avLst>
              <a:gd name="adj" fmla="val 8000"/>
            </a:avLst>
          </a:prstGeom>
          <a:solidFill>
            <a:srgbClr val="EAEFFB"/>
          </a:solidFill>
          <a:ln w="9525">
            <a:solidFill>
              <a:srgbClr val="ABBFF2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4617720"/>
            <a:ext cx="91440" cy="1097280"/>
          </a:xfrm>
          <a:prstGeom prst="roundRect">
            <a:avLst>
              <a:gd name="adj" fmla="val 30000"/>
            </a:avLst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617720"/>
            <a:ext cx="53492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F2A44"/>
                </a:solidFill>
                <a:latin typeface="Segoe UI"/>
              </a:rPr>
              <a:t>How can complex enterprise requirement artefacts become reliable, structured, executable tests — and which AI architecture does it best?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874519"/>
            <a:ext cx="4050791" cy="6035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61504" y="198424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12B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1504" y="1984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1874519"/>
            <a:ext cx="319125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2A44"/>
                </a:solidFill>
                <a:latin typeface="Segoe UI Semibold"/>
              </a:rPr>
              <a:t>Requirement artefacts (complex)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459736"/>
            <a:ext cx="4050791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4CDE0"/>
                </a:solidFill>
                <a:latin typeface="Segoe UI"/>
              </a:rP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2715768"/>
            <a:ext cx="4050791" cy="6035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61504" y="2825496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F2A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61504" y="2825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8431" y="2715768"/>
            <a:ext cx="319125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2A44"/>
                </a:solidFill>
                <a:latin typeface="Segoe UI Semibold"/>
              </a:rPr>
              <a:t>Manual interpretation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300984"/>
            <a:ext cx="4050791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4CDE0"/>
                </a:solidFill>
                <a:latin typeface="Segoe UI"/>
              </a:rPr>
              <a:t>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0" y="3557015"/>
            <a:ext cx="4050791" cy="6035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61504" y="3666744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8A6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61504" y="36667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28431" y="3557015"/>
            <a:ext cx="319125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2A44"/>
                </a:solidFill>
                <a:latin typeface="Segoe UI Semibold"/>
              </a:rPr>
              <a:t>Inconsistent / incomplete tests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142232"/>
            <a:ext cx="4050791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4CDE0"/>
                </a:solidFill>
                <a:latin typeface="Segoe UI"/>
              </a:rPr>
              <a:t>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4398264"/>
            <a:ext cx="4050791" cy="60350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461504" y="4507992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F06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61504" y="450799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28431" y="4398264"/>
            <a:ext cx="3191256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2A44"/>
                </a:solidFill>
                <a:latin typeface="Segoe UI Semibold"/>
              </a:rPr>
              <a:t>Reduced confidence in quality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Segoe UI"/>
              </a:rPr>
              <a:t>MS24901062  ·  Shanaka Madhusanka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5566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Consolas"/>
              </a:rPr>
              <a:t>07 / 33</a:t>
            </a:r>
          </a:p>
        </p:txBody>
      </p:sp>
      <p:sp>
        <p:nvSpPr>
          <p:cNvPr id="5" name="Oval 4"/>
          <p:cNvSpPr/>
          <p:nvPr/>
        </p:nvSpPr>
        <p:spPr>
          <a:xfrm>
            <a:off x="5684367" y="1828800"/>
            <a:ext cx="822960" cy="822960"/>
          </a:xfrm>
          <a:prstGeom prst="ellipse">
            <a:avLst/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84367" y="1828800"/>
            <a:ext cx="822960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700">
                <a:solidFill>
                  <a:srgbClr val="FFFFFF"/>
                </a:solidFill>
                <a:latin typeface="Segoe MDL2 Assets"/>
                <a:ea typeface="Segoe MDL2 Assets"/>
                <a:cs typeface="Segoe MDL2 Assets"/>
              </a:rPr>
              <a:t>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F5FE0"/>
                </a:solidFill>
                <a:latin typeface="Consolas"/>
              </a:rPr>
              <a:t>PART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03628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1F2A44"/>
                </a:solidFill>
                <a:latin typeface="Segoe UI Light"/>
              </a:rPr>
              <a:t>Literature Review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41367" y="4343400"/>
            <a:ext cx="1554480" cy="64008"/>
          </a:xfrm>
          <a:prstGeom prst="roundRect">
            <a:avLst>
              <a:gd name="adj" fmla="val 50000"/>
            </a:avLst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95847" y="4343400"/>
            <a:ext cx="1554480" cy="64008"/>
          </a:xfrm>
          <a:prstGeom prst="roundRect">
            <a:avLst>
              <a:gd name="adj" fmla="val 50000"/>
            </a:avLst>
          </a:prstGeom>
          <a:solidFill>
            <a:srgbClr val="12B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spd="med">
    <p:cover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Segoe UI"/>
              </a:rPr>
              <a:t>MS24901062  ·  Shanaka Madhusanka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5566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Consolas"/>
              </a:rPr>
              <a:t>08 /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F5FE0"/>
                </a:solidFill>
                <a:latin typeface="Consolas"/>
              </a:rPr>
              <a:t>THEMES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768096"/>
            <a:ext cx="603504" cy="45720"/>
          </a:xfrm>
          <a:prstGeom prst="roundRect">
            <a:avLst>
              <a:gd name="adj" fmla="val 50000"/>
            </a:avLst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950976"/>
            <a:ext cx="566928" cy="566928"/>
          </a:xfrm>
          <a:prstGeom prst="ellipse">
            <a:avLst/>
          </a:prstGeom>
          <a:solidFill>
            <a:srgbClr val="E1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95097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>
                <a:solidFill>
                  <a:srgbClr val="2F5FE0"/>
                </a:solidFill>
                <a:latin typeface="Segoe MDL2 Assets"/>
                <a:ea typeface="Segoe MDL2 Assets"/>
                <a:cs typeface="Segoe MDL2 Assets"/>
              </a:rPr>
              <a:t>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950976"/>
            <a:ext cx="9692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2A44"/>
                </a:solidFill>
                <a:latin typeface="Segoe UI Light"/>
              </a:rPr>
              <a:t>What the literature shows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2A44"/>
                </a:solidFill>
                <a:latin typeface="Segoe UI Semibold"/>
              </a:rPr>
              <a:t>AI-augmented test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39696"/>
            <a:ext cx="57607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900">
                <a:solidFill>
                  <a:srgbClr val="2F5FE0"/>
                </a:solidFill>
                <a:latin typeface="Segoe UI"/>
              </a:rPr>
              <a:t>▪  </a:t>
            </a:r>
            <a:r>
              <a:rPr sz="1250" b="0">
                <a:solidFill>
                  <a:srgbClr val="4A5670"/>
                </a:solidFill>
                <a:latin typeface="Segoe UI"/>
              </a:rPr>
              <a:t>LLMs reason over docs/APIs to produce structured tests beyond rule-/search-based methods.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7180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2A44"/>
                </a:solidFill>
                <a:latin typeface="Segoe UI Semibold"/>
              </a:rPr>
              <a:t>Retrieval-Augmented Generation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82696"/>
            <a:ext cx="57607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900">
                <a:solidFill>
                  <a:srgbClr val="12B3A0"/>
                </a:solidFill>
                <a:latin typeface="Segoe UI"/>
              </a:rPr>
              <a:t>▪  </a:t>
            </a:r>
            <a:r>
              <a:rPr sz="1250" b="0">
                <a:solidFill>
                  <a:srgbClr val="4A5670"/>
                </a:solidFill>
                <a:latin typeface="Segoe UI"/>
              </a:rPr>
              <a:t>Grounds models in </a:t>
            </a:r>
            <a:r>
              <a:rPr sz="1250" b="1">
                <a:solidFill>
                  <a:srgbClr val="1F2A44"/>
                </a:solidFill>
                <a:latin typeface="Segoe UI"/>
              </a:rPr>
              <a:t>up-to-date documentation</a:t>
            </a:r>
            <a:r>
              <a:rPr sz="1250" b="0">
                <a:solidFill>
                  <a:srgbClr val="4A5670"/>
                </a:solidFill>
                <a:latin typeface="Segoe UI"/>
              </a:rPr>
              <a:t> for relevance.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1480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2A44"/>
                </a:solidFill>
                <a:latin typeface="Segoe UI Semibold"/>
              </a:rPr>
              <a:t>LoRA &amp; Hybrid architectures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25696"/>
            <a:ext cx="57607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900">
                <a:solidFill>
                  <a:srgbClr val="8A6CF0"/>
                </a:solidFill>
                <a:latin typeface="Segoe UI"/>
              </a:rPr>
              <a:t>▪  </a:t>
            </a:r>
            <a:r>
              <a:rPr sz="1250" b="0">
                <a:solidFill>
                  <a:srgbClr val="4A5670"/>
                </a:solidFill>
                <a:latin typeface="Segoe UI"/>
              </a:rPr>
              <a:t>Parameter-efficient </a:t>
            </a:r>
            <a:r>
              <a:rPr sz="1250" b="1">
                <a:solidFill>
                  <a:srgbClr val="1F2A44"/>
                </a:solidFill>
                <a:latin typeface="Segoe UI"/>
              </a:rPr>
              <a:t>domain adaptation</a:t>
            </a:r>
            <a:r>
              <a:rPr sz="1250" b="0">
                <a:solidFill>
                  <a:srgbClr val="4A5670"/>
                </a:solidFill>
                <a:latin typeface="Segoe UI"/>
              </a:rPr>
              <a:t>.</a:t>
            </a:r>
          </a:p>
          <a:p>
            <a:pPr>
              <a:lnSpc>
                <a:spcPct val="106000"/>
              </a:lnSpc>
              <a:spcAft>
                <a:spcPts val="700"/>
              </a:spcAft>
            </a:pPr>
            <a:r>
              <a:rPr sz="900">
                <a:solidFill>
                  <a:srgbClr val="8A6CF0"/>
                </a:solidFill>
                <a:latin typeface="Segoe UI"/>
              </a:rPr>
              <a:t>▪  </a:t>
            </a:r>
            <a:r>
              <a:rPr sz="1250" b="0">
                <a:solidFill>
                  <a:srgbClr val="4A5670"/>
                </a:solidFill>
                <a:latin typeface="Segoe UI"/>
              </a:rPr>
              <a:t>Generation + </a:t>
            </a:r>
            <a:r>
              <a:rPr sz="1250" b="1">
                <a:solidFill>
                  <a:srgbClr val="1F2A44"/>
                </a:solidFill>
                <a:latin typeface="Segoe UI"/>
              </a:rPr>
              <a:t>rule-based validation</a:t>
            </a:r>
            <a:r>
              <a:rPr sz="1250" b="0">
                <a:solidFill>
                  <a:srgbClr val="4A5670"/>
                </a:solidFill>
                <a:latin typeface="Segoe UI"/>
              </a:rPr>
              <a:t> for reliability.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920240"/>
            <a:ext cx="4050791" cy="67665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461504" y="2029968"/>
            <a:ext cx="457200" cy="457200"/>
          </a:xfrm>
          <a:prstGeom prst="ellipse">
            <a:avLst/>
          </a:prstGeom>
          <a:solidFill>
            <a:srgbClr val="DF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61504" y="2029968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>
                <a:solidFill>
                  <a:srgbClr val="2F5FE0"/>
                </a:solidFill>
                <a:latin typeface="Segoe MDL2 Assets"/>
                <a:ea typeface="Segoe MDL2 Assets"/>
                <a:cs typeface="Segoe MDL2 Assets"/>
              </a:rPr>
              <a:t>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01583" y="1920240"/>
            <a:ext cx="3118104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2A44"/>
                </a:solidFill>
                <a:latin typeface="Segoe UI Semibold"/>
              </a:rPr>
              <a:t>AI-augmented test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578608"/>
            <a:ext cx="405079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4CDE0"/>
                </a:solidFill>
                <a:latin typeface="Segoe UI"/>
              </a:rPr>
              <a:t>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2871216"/>
            <a:ext cx="4050791" cy="67665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61504" y="2980944"/>
            <a:ext cx="457200" cy="457200"/>
          </a:xfrm>
          <a:prstGeom prst="ellipse">
            <a:avLst/>
          </a:prstGeom>
          <a:solidFill>
            <a:srgbClr val="D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61504" y="2980944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>
                <a:solidFill>
                  <a:srgbClr val="12B3A0"/>
                </a:solidFill>
                <a:latin typeface="Segoe MDL2 Assets"/>
                <a:ea typeface="Segoe MDL2 Assets"/>
                <a:cs typeface="Segoe MDL2 Assets"/>
              </a:rPr>
              <a:t>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1583" y="2871216"/>
            <a:ext cx="3118104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2A44"/>
                </a:solidFill>
                <a:latin typeface="Segoe UI Semibold"/>
              </a:rPr>
              <a:t>Retrieval-Augmented Generation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529584"/>
            <a:ext cx="405079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4CDE0"/>
                </a:solidFill>
                <a:latin typeface="Segoe UI"/>
              </a:rPr>
              <a:t>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3822191"/>
            <a:ext cx="4050791" cy="67665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61504" y="3931920"/>
            <a:ext cx="457200" cy="457200"/>
          </a:xfrm>
          <a:prstGeom prst="ellipse">
            <a:avLst/>
          </a:prstGeom>
          <a:solidFill>
            <a:srgbClr val="ED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61504" y="3931920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>
                <a:solidFill>
                  <a:srgbClr val="8A6CF0"/>
                </a:solidFill>
                <a:latin typeface="Segoe MDL2 Assets"/>
                <a:ea typeface="Segoe MDL2 Assets"/>
                <a:cs typeface="Segoe MDL2 Assets"/>
              </a:rPr>
              <a:t>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1583" y="3822191"/>
            <a:ext cx="3118104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2A44"/>
                </a:solidFill>
                <a:latin typeface="Segoe UI Semibold"/>
              </a:rPr>
              <a:t>LoRA fine-tuning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480560"/>
            <a:ext cx="4050791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4CDE0"/>
                </a:solidFill>
                <a:latin typeface="Segoe UI"/>
              </a:rPr>
              <a:t>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0" y="4773168"/>
            <a:ext cx="4050791" cy="676656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461504" y="4882896"/>
            <a:ext cx="457200" cy="457200"/>
          </a:xfrm>
          <a:prstGeom prst="ellipse">
            <a:avLst/>
          </a:prstGeom>
          <a:solidFill>
            <a:srgbClr val="FD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61504" y="4882896"/>
            <a:ext cx="457200" cy="4572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>
                <a:solidFill>
                  <a:srgbClr val="F2A431"/>
                </a:solidFill>
                <a:latin typeface="Segoe MDL2 Assets"/>
                <a:ea typeface="Segoe MDL2 Assets"/>
                <a:cs typeface="Segoe MDL2 Assets"/>
              </a:rPr>
              <a:t>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01583" y="4773168"/>
            <a:ext cx="3118104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2A44"/>
                </a:solidFill>
                <a:latin typeface="Segoe UI Semibold"/>
              </a:rPr>
              <a:t>Hybrid validation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Segoe UI"/>
              </a:rPr>
              <a:t>MS24901062  ·  Shanaka Madhusanka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5566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Consolas"/>
              </a:rPr>
              <a:t>09 /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F5FE0"/>
                </a:solidFill>
                <a:latin typeface="Consolas"/>
              </a:rPr>
              <a:t>EXISTING SYSTEMS 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768096"/>
            <a:ext cx="603504" cy="45720"/>
          </a:xfrm>
          <a:prstGeom prst="roundRect">
            <a:avLst>
              <a:gd name="adj" fmla="val 50000"/>
            </a:avLst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950976"/>
            <a:ext cx="566928" cy="566928"/>
          </a:xfrm>
          <a:prstGeom prst="ellipse">
            <a:avLst/>
          </a:prstGeom>
          <a:solidFill>
            <a:srgbClr val="E1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95097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>
                <a:solidFill>
                  <a:srgbClr val="2F5FE0"/>
                </a:solidFill>
                <a:latin typeface="Segoe MDL2 Assets"/>
                <a:ea typeface="Segoe MDL2 Assets"/>
                <a:cs typeface="Segoe MDL2 Assets"/>
              </a:rPr>
              <a:t>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950976"/>
            <a:ext cx="9692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2A44"/>
                </a:solidFill>
                <a:latin typeface="Segoe UI Light"/>
              </a:rPr>
              <a:t>How current tools fall short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920240"/>
          <a:ext cx="10543032" cy="294436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94560"/>
                <a:gridCol w="3291840"/>
                <a:gridCol w="5056632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Tool</a:t>
                      </a:r>
                    </a:p>
                  </a:txBody>
                  <a:tcPr anchor="ctr" marL="109728">
                    <a:solidFill>
                      <a:srgbClr val="1721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Primary focus</a:t>
                      </a:r>
                    </a:p>
                  </a:txBody>
                  <a:tcPr anchor="ctr" marL="109728">
                    <a:solidFill>
                      <a:srgbClr val="1721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Limitation</a:t>
                      </a:r>
                    </a:p>
                  </a:txBody>
                  <a:tcPr anchor="ctr" marL="109728">
                    <a:solidFill>
                      <a:srgbClr val="17214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44"/>
                          </a:solidFill>
                          <a:latin typeface="Consolas"/>
                        </a:rPr>
                        <a:t>Postman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API testing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No requirement understanding · no AI generation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44"/>
                          </a:solidFill>
                          <a:latin typeface="Consolas"/>
                        </a:rPr>
                        <a:t>ReadyAPI</a:t>
                      </a:r>
                    </a:p>
                  </a:txBody>
                  <a:tcPr anchor="ctr" marL="109728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API automation</a:t>
                      </a:r>
                    </a:p>
                  </a:txBody>
                  <a:tcPr anchor="ctr" marL="109728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Rule-based, not AI-driven</a:t>
                      </a:r>
                    </a:p>
                  </a:txBody>
                  <a:tcPr anchor="ctr" marL="109728">
                    <a:solidFill>
                      <a:srgbClr val="FAFBF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44"/>
                          </a:solidFill>
                          <a:latin typeface="Consolas"/>
                        </a:rPr>
                        <a:t>SonarQube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Code analysis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Quality only — no test generation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44"/>
                          </a:solidFill>
                          <a:latin typeface="Consolas"/>
                        </a:rPr>
                        <a:t>GitHub Copilot</a:t>
                      </a:r>
                    </a:p>
                  </a:txBody>
                  <a:tcPr anchor="ctr" marL="109728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Code assistance</a:t>
                      </a:r>
                    </a:p>
                  </a:txBody>
                  <a:tcPr anchor="ctr" marL="109728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Assists code, does not execute tests</a:t>
                      </a:r>
                    </a:p>
                  </a:txBody>
                  <a:tcPr anchor="ctr" marL="109728">
                    <a:solidFill>
                      <a:srgbClr val="FAFBF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44"/>
                          </a:solidFill>
                          <a:latin typeface="Consolas"/>
                        </a:rPr>
                        <a:t>Diffblue Cover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Unit-test generation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Java only · no business-requirement mapping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2B3A0"/>
                          </a:solidFill>
                          <a:latin typeface="Consolas"/>
                        </a:rPr>
                        <a:t>Proposed Framework</a:t>
                      </a:r>
                    </a:p>
                  </a:txBody>
                  <a:tcPr anchor="ctr" marL="109728">
                    <a:solidFill>
                      <a:srgbClr val="EA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End-to-end AI backend test generation</a:t>
                      </a:r>
                    </a:p>
                  </a:txBody>
                  <a:tcPr anchor="ctr" marL="109728">
                    <a:solidFill>
                      <a:srgbClr val="EA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Requirement-driven, executed &amp; evaluated</a:t>
                      </a:r>
                    </a:p>
                  </a:txBody>
                  <a:tcPr anchor="ctr" marL="109728">
                    <a:solidFill>
                      <a:srgbClr val="EAF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Segoe UI"/>
              </a:rPr>
              <a:t>MS24901062  ·  Shanaka Madhusanka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5566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Consolas"/>
              </a:rPr>
              <a:t>10 / 33</a:t>
            </a:r>
          </a:p>
        </p:txBody>
      </p:sp>
      <p:sp>
        <p:nvSpPr>
          <p:cNvPr id="5" name="Oval 4"/>
          <p:cNvSpPr/>
          <p:nvPr/>
        </p:nvSpPr>
        <p:spPr>
          <a:xfrm>
            <a:off x="5684367" y="1828800"/>
            <a:ext cx="822960" cy="822960"/>
          </a:xfrm>
          <a:prstGeom prst="ellipse">
            <a:avLst/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84367" y="1828800"/>
            <a:ext cx="822960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700">
                <a:solidFill>
                  <a:srgbClr val="FFFFFF"/>
                </a:solidFill>
                <a:latin typeface="Segoe MDL2 Assets"/>
                <a:ea typeface="Segoe MDL2 Assets"/>
                <a:cs typeface="Segoe MDL2 Assets"/>
              </a:rPr>
              <a:t>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F5FE0"/>
                </a:solidFill>
                <a:latin typeface="Consolas"/>
              </a:rPr>
              <a:t>RESEARCH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03628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1F2A44"/>
                </a:solidFill>
                <a:latin typeface="Segoe UI Light"/>
              </a:rPr>
              <a:t>Research Gap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41367" y="4343400"/>
            <a:ext cx="1554480" cy="64008"/>
          </a:xfrm>
          <a:prstGeom prst="roundRect">
            <a:avLst>
              <a:gd name="adj" fmla="val 50000"/>
            </a:avLst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95847" y="4343400"/>
            <a:ext cx="1554480" cy="64008"/>
          </a:xfrm>
          <a:prstGeom prst="roundRect">
            <a:avLst>
              <a:gd name="adj" fmla="val 50000"/>
            </a:avLst>
          </a:prstGeom>
          <a:solidFill>
            <a:srgbClr val="12B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spd="med">
    <p:cover dir="l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Segoe UI"/>
              </a:rPr>
              <a:t>MS24901062  ·  Shanaka Madhusanka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5566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Consolas"/>
              </a:rPr>
              <a:t>11 /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F5FE0"/>
                </a:solidFill>
                <a:latin typeface="Consolas"/>
              </a:rPr>
              <a:t>WHAT'S MISSING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768096"/>
            <a:ext cx="603504" cy="45720"/>
          </a:xfrm>
          <a:prstGeom prst="roundRect">
            <a:avLst>
              <a:gd name="adj" fmla="val 50000"/>
            </a:avLst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950976"/>
            <a:ext cx="566928" cy="566928"/>
          </a:xfrm>
          <a:prstGeom prst="ellipse">
            <a:avLst/>
          </a:prstGeom>
          <a:solidFill>
            <a:srgbClr val="FD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95097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>
                <a:solidFill>
                  <a:srgbClr val="F2A431"/>
                </a:solidFill>
                <a:latin typeface="Segoe MDL2 Assets"/>
                <a:ea typeface="Segoe MDL2 Assets"/>
                <a:cs typeface="Segoe MDL2 Assets"/>
              </a:rPr>
              <a:t>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950976"/>
            <a:ext cx="9692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2A44"/>
                </a:solidFill>
                <a:latin typeface="Segoe UI Light"/>
              </a:rPr>
              <a:t>The gap this study fills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2A431"/>
                </a:solidFill>
                <a:latin typeface="Segoe UI Semibold"/>
              </a:rPr>
              <a:t>Gaps in existing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240280"/>
            <a:ext cx="57607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900">
                <a:solidFill>
                  <a:srgbClr val="F2A431"/>
                </a:solidFill>
                <a:latin typeface="Segoe UI"/>
              </a:rPr>
              <a:t>▪  </a:t>
            </a:r>
            <a:r>
              <a:rPr sz="1250" b="0">
                <a:solidFill>
                  <a:srgbClr val="4A5670"/>
                </a:solidFill>
                <a:latin typeface="Segoe UI"/>
              </a:rPr>
              <a:t>Little focus on </a:t>
            </a:r>
            <a:r>
              <a:rPr sz="1250" b="1">
                <a:solidFill>
                  <a:srgbClr val="1F2A44"/>
                </a:solidFill>
                <a:latin typeface="Segoe UI"/>
              </a:rPr>
              <a:t>enterprise backend</a:t>
            </a:r>
            <a:r>
              <a:rPr sz="1250" b="0">
                <a:solidFill>
                  <a:srgbClr val="4A5670"/>
                </a:solidFill>
                <a:latin typeface="Segoe UI"/>
              </a:rPr>
              <a:t> systems.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900">
                <a:solidFill>
                  <a:srgbClr val="F2A431"/>
                </a:solidFill>
                <a:latin typeface="Segoe UI"/>
              </a:rPr>
              <a:t>▪  </a:t>
            </a:r>
            <a:r>
              <a:rPr sz="1250" b="0">
                <a:solidFill>
                  <a:srgbClr val="4A5670"/>
                </a:solidFill>
                <a:latin typeface="Segoe UI"/>
              </a:rPr>
              <a:t>Few handle </a:t>
            </a:r>
            <a:r>
              <a:rPr sz="1250" b="1">
                <a:solidFill>
                  <a:srgbClr val="1F2A44"/>
                </a:solidFill>
                <a:latin typeface="Segoe UI"/>
              </a:rPr>
              <a:t>complex BA documents</a:t>
            </a:r>
            <a:r>
              <a:rPr sz="1250" b="0">
                <a:solidFill>
                  <a:srgbClr val="4A5670"/>
                </a:solidFill>
                <a:latin typeface="Segoe UI"/>
              </a:rPr>
              <a:t>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900">
                <a:solidFill>
                  <a:srgbClr val="F2A431"/>
                </a:solidFill>
                <a:latin typeface="Segoe UI"/>
              </a:rPr>
              <a:t>▪  </a:t>
            </a:r>
            <a:r>
              <a:rPr sz="1250" b="0">
                <a:solidFill>
                  <a:srgbClr val="4A5670"/>
                </a:solidFill>
                <a:latin typeface="Segoe UI"/>
              </a:rPr>
              <a:t>Weak </a:t>
            </a:r>
            <a:r>
              <a:rPr sz="1250" b="1">
                <a:solidFill>
                  <a:srgbClr val="1F2A44"/>
                </a:solidFill>
                <a:latin typeface="Segoe UI"/>
              </a:rPr>
              <a:t>contextual grounding</a:t>
            </a:r>
            <a:r>
              <a:rPr sz="1250" b="0">
                <a:solidFill>
                  <a:srgbClr val="4A5670"/>
                </a:solidFill>
                <a:latin typeface="Segoe UI"/>
              </a:rPr>
              <a:t> of models.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900">
                <a:solidFill>
                  <a:srgbClr val="F2A431"/>
                </a:solidFill>
                <a:latin typeface="Segoe UI"/>
              </a:rPr>
              <a:t>▪  </a:t>
            </a:r>
            <a:r>
              <a:rPr sz="1250" b="0">
                <a:solidFill>
                  <a:srgbClr val="4A5670"/>
                </a:solidFill>
                <a:latin typeface="Segoe UI"/>
              </a:rPr>
              <a:t>No </a:t>
            </a:r>
            <a:r>
              <a:rPr sz="1250" b="1">
                <a:solidFill>
                  <a:srgbClr val="1F2A44"/>
                </a:solidFill>
                <a:latin typeface="Segoe UI"/>
              </a:rPr>
              <a:t>like-for-like architecture comparison</a:t>
            </a:r>
            <a:r>
              <a:rPr sz="1250" b="0">
                <a:solidFill>
                  <a:srgbClr val="4A5670"/>
                </a:solidFill>
                <a:latin typeface="Segoe UI"/>
              </a:rPr>
              <a:t>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900">
                <a:solidFill>
                  <a:srgbClr val="F2A431"/>
                </a:solidFill>
                <a:latin typeface="Segoe UI"/>
              </a:rPr>
              <a:t>▪  </a:t>
            </a:r>
            <a:r>
              <a:rPr sz="1250" b="0">
                <a:solidFill>
                  <a:srgbClr val="4A5670"/>
                </a:solidFill>
                <a:latin typeface="Segoe UI"/>
              </a:rPr>
              <a:t>Coverage-only evaluation — </a:t>
            </a:r>
            <a:r>
              <a:rPr sz="1250" b="1">
                <a:solidFill>
                  <a:srgbClr val="1F2A44"/>
                </a:solidFill>
                <a:latin typeface="Segoe UI"/>
              </a:rPr>
              <a:t>shallow</a:t>
            </a:r>
            <a:r>
              <a:rPr sz="1250" b="0">
                <a:solidFill>
                  <a:srgbClr val="4A5670"/>
                </a:solidFill>
                <a:latin typeface="Segoe U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1874519"/>
            <a:ext cx="4142232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23760" y="1874519"/>
            <a:ext cx="4142232" cy="91440"/>
          </a:xfrm>
          <a:prstGeom prst="roundRect">
            <a:avLst>
              <a:gd name="adj" fmla="val 50000"/>
            </a:avLst>
          </a:prstGeom>
          <a:solidFill>
            <a:srgbClr val="12B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79" y="2148840"/>
            <a:ext cx="512064" cy="512064"/>
          </a:xfrm>
          <a:prstGeom prst="ellipse">
            <a:avLst/>
          </a:prstGeom>
          <a:solidFill>
            <a:srgbClr val="D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2148840"/>
            <a:ext cx="512064" cy="5120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12B3A0"/>
                </a:solidFill>
                <a:latin typeface="Segoe MDL2 Assets"/>
                <a:ea typeface="Segoe MDL2 Assets"/>
                <a:cs typeface="Segoe MDL2 Assets"/>
              </a:rPr>
              <a:t>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148840"/>
            <a:ext cx="30175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2B3A0"/>
                </a:solidFill>
                <a:latin typeface="Segoe UI Semibold"/>
              </a:rPr>
              <a:t>This study delivers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834640"/>
            <a:ext cx="36576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900">
                <a:solidFill>
                  <a:srgbClr val="12B3A0"/>
                </a:solidFill>
                <a:latin typeface="Segoe UI"/>
              </a:rPr>
              <a:t>▪  </a:t>
            </a:r>
            <a:r>
              <a:rPr sz="1250" b="0">
                <a:solidFill>
                  <a:srgbClr val="4A5670"/>
                </a:solidFill>
                <a:latin typeface="Segoe UI"/>
              </a:rPr>
              <a:t>A modular framework ingesting real BA documents.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900">
                <a:solidFill>
                  <a:srgbClr val="12B3A0"/>
                </a:solidFill>
                <a:latin typeface="Segoe UI"/>
              </a:rPr>
              <a:t>▪  </a:t>
            </a:r>
            <a:r>
              <a:rPr sz="1250" b="0">
                <a:solidFill>
                  <a:srgbClr val="4A5670"/>
                </a:solidFill>
                <a:latin typeface="Segoe UI"/>
              </a:rPr>
              <a:t>Five AI configurations under identical conditions.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900">
                <a:solidFill>
                  <a:srgbClr val="12B3A0"/>
                </a:solidFill>
                <a:latin typeface="Segoe UI"/>
              </a:rPr>
              <a:t>▪  </a:t>
            </a:r>
            <a:r>
              <a:rPr sz="1250" b="0">
                <a:solidFill>
                  <a:srgbClr val="4A5670"/>
                </a:solidFill>
                <a:latin typeface="Segoe UI"/>
              </a:rPr>
              <a:t>Coverage + </a:t>
            </a:r>
            <a:r>
              <a:rPr sz="1250" b="1">
                <a:solidFill>
                  <a:srgbClr val="1F2A44"/>
                </a:solidFill>
                <a:latin typeface="Segoe UI"/>
              </a:rPr>
              <a:t>mutation</a:t>
            </a:r>
            <a:r>
              <a:rPr sz="1250" b="0">
                <a:solidFill>
                  <a:srgbClr val="4A5670"/>
                </a:solidFill>
                <a:latin typeface="Segoe UI"/>
              </a:rPr>
              <a:t> + </a:t>
            </a:r>
            <a:r>
              <a:rPr sz="1250" b="1">
                <a:solidFill>
                  <a:srgbClr val="1F2A44"/>
                </a:solidFill>
                <a:latin typeface="Segoe UI"/>
              </a:rPr>
              <a:t>execution validity</a:t>
            </a:r>
            <a:r>
              <a:rPr sz="1250" b="0">
                <a:solidFill>
                  <a:srgbClr val="4A5670"/>
                </a:solidFill>
                <a:latin typeface="Segoe UI"/>
              </a:rPr>
              <a:t>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900">
                <a:solidFill>
                  <a:srgbClr val="12B3A0"/>
                </a:solidFill>
                <a:latin typeface="Segoe UI"/>
              </a:rPr>
              <a:t>▪  </a:t>
            </a:r>
            <a:r>
              <a:rPr sz="1250" b="0">
                <a:solidFill>
                  <a:srgbClr val="4A5670"/>
                </a:solidFill>
                <a:latin typeface="Segoe UI"/>
              </a:rPr>
              <a:t>A working .NET prototype with CI/CD execution.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Segoe UI"/>
              </a:rPr>
              <a:t>MS24901062  ·  Shanaka Madhusanka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5566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Consolas"/>
              </a:rPr>
              <a:t>12 / 33</a:t>
            </a:r>
          </a:p>
        </p:txBody>
      </p:sp>
      <p:sp>
        <p:nvSpPr>
          <p:cNvPr id="5" name="Oval 4"/>
          <p:cNvSpPr/>
          <p:nvPr/>
        </p:nvSpPr>
        <p:spPr>
          <a:xfrm>
            <a:off x="5684367" y="1828800"/>
            <a:ext cx="822960" cy="822960"/>
          </a:xfrm>
          <a:prstGeom prst="ellipse">
            <a:avLst/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84367" y="1828800"/>
            <a:ext cx="822960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700">
                <a:solidFill>
                  <a:srgbClr val="FFFFFF"/>
                </a:solidFill>
                <a:latin typeface="Segoe MDL2 Assets"/>
                <a:ea typeface="Segoe MDL2 Assets"/>
                <a:cs typeface="Segoe MDL2 Assets"/>
              </a:rPr>
              <a:t>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F5FE0"/>
                </a:solidFill>
                <a:latin typeface="Consolas"/>
              </a:rPr>
              <a:t>PART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03628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1F2A44"/>
                </a:solidFill>
                <a:latin typeface="Segoe UI Light"/>
              </a:rPr>
              <a:t>Objectives &amp; Questions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41367" y="4343400"/>
            <a:ext cx="1554480" cy="64008"/>
          </a:xfrm>
          <a:prstGeom prst="roundRect">
            <a:avLst>
              <a:gd name="adj" fmla="val 50000"/>
            </a:avLst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95847" y="4343400"/>
            <a:ext cx="1554480" cy="64008"/>
          </a:xfrm>
          <a:prstGeom prst="roundRect">
            <a:avLst>
              <a:gd name="adj" fmla="val 50000"/>
            </a:avLst>
          </a:prstGeom>
          <a:solidFill>
            <a:srgbClr val="12B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spd="med">
    <p:cover dir="l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Segoe UI"/>
              </a:rPr>
              <a:t>MS24901062  ·  Shanaka Madhusanka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5566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Consolas"/>
              </a:rPr>
              <a:t>13 /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F5FE0"/>
                </a:solidFill>
                <a:latin typeface="Consolas"/>
              </a:rPr>
              <a:t>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768096"/>
            <a:ext cx="603504" cy="45720"/>
          </a:xfrm>
          <a:prstGeom prst="roundRect">
            <a:avLst>
              <a:gd name="adj" fmla="val 50000"/>
            </a:avLst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950976"/>
            <a:ext cx="566928" cy="566928"/>
          </a:xfrm>
          <a:prstGeom prst="ellipse">
            <a:avLst/>
          </a:prstGeom>
          <a:solidFill>
            <a:srgbClr val="E1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95097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>
                <a:solidFill>
                  <a:srgbClr val="2F5FE0"/>
                </a:solidFill>
                <a:latin typeface="Segoe MDL2 Assets"/>
                <a:ea typeface="Segoe MDL2 Assets"/>
                <a:cs typeface="Segoe MDL2 Assets"/>
              </a:rPr>
              <a:t>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950976"/>
            <a:ext cx="9692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2A44"/>
                </a:solidFill>
                <a:latin typeface="Segoe UI Light"/>
              </a:rPr>
              <a:t>Aim &amp; supporting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2A44"/>
                </a:solidFill>
                <a:latin typeface="Segoe UI Semibold"/>
              </a:rPr>
              <a:t>Main objective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139696"/>
            <a:ext cx="5760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A5670"/>
                </a:solidFill>
                <a:latin typeface="Segoe UI"/>
              </a:rPr>
              <a:t>Design, build &amp; evaluate a Generative AI-augmented framework that automatically produces structured test cases for enterprise backends from requirement artefacts.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8328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2A44"/>
                </a:solidFill>
                <a:latin typeface="Segoe UI Semibold"/>
              </a:rPr>
              <a:t>Supporting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94176"/>
            <a:ext cx="57607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900">
                <a:solidFill>
                  <a:srgbClr val="2F5FE0"/>
                </a:solidFill>
                <a:latin typeface="Segoe UI"/>
              </a:rPr>
              <a:t>▪  </a:t>
            </a:r>
            <a:r>
              <a:rPr sz="1250" b="0">
                <a:solidFill>
                  <a:srgbClr val="4A5670"/>
                </a:solidFill>
                <a:latin typeface="Segoe UI"/>
              </a:rPr>
              <a:t>Review AI-assisted testing &amp; identify constraints.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900">
                <a:solidFill>
                  <a:srgbClr val="2F5FE0"/>
                </a:solidFill>
                <a:latin typeface="Segoe UI"/>
              </a:rPr>
              <a:t>▪  </a:t>
            </a:r>
            <a:r>
              <a:rPr sz="1250" b="0">
                <a:solidFill>
                  <a:srgbClr val="4A5670"/>
                </a:solidFill>
                <a:latin typeface="Segoe UI"/>
              </a:rPr>
              <a:t>Build a generative framework over enterprise artefacts.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900">
                <a:solidFill>
                  <a:srgbClr val="2F5FE0"/>
                </a:solidFill>
                <a:latin typeface="Segoe UI"/>
              </a:rPr>
              <a:t>▪  </a:t>
            </a:r>
            <a:r>
              <a:rPr sz="1250" b="0">
                <a:solidFill>
                  <a:srgbClr val="4A5670"/>
                </a:solidFill>
                <a:latin typeface="Segoe UI"/>
              </a:rPr>
              <a:t>Implement a prototype with multiple AI methods.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900">
                <a:solidFill>
                  <a:srgbClr val="2F5FE0"/>
                </a:solidFill>
                <a:latin typeface="Segoe UI"/>
              </a:rPr>
              <a:t>▪  </a:t>
            </a:r>
            <a:r>
              <a:rPr sz="1250" b="0">
                <a:solidFill>
                  <a:srgbClr val="4A5670"/>
                </a:solidFill>
                <a:latin typeface="Segoe UI"/>
              </a:rPr>
              <a:t>Evaluate relevance, coverage, accuracy &amp; efficiency.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1920240"/>
            <a:ext cx="4050791" cy="7498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61504" y="2029968"/>
            <a:ext cx="530352" cy="530352"/>
          </a:xfrm>
          <a:prstGeom prst="ellipse">
            <a:avLst/>
          </a:prstGeom>
          <a:solidFill>
            <a:srgbClr val="DF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61504" y="2029968"/>
            <a:ext cx="530352" cy="5303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>
                <a:solidFill>
                  <a:srgbClr val="2F5FE0"/>
                </a:solidFill>
                <a:latin typeface="Segoe MDL2 Assets"/>
                <a:ea typeface="Segoe MDL2 Assets"/>
                <a:cs typeface="Segoe MDL2 Assets"/>
              </a:rPr>
              <a:t>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1920240"/>
            <a:ext cx="3044952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2A44"/>
                </a:solidFill>
                <a:latin typeface="Segoe UI Semibold"/>
              </a:rPr>
              <a:t>Identify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651760"/>
            <a:ext cx="405079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4CDE0"/>
                </a:solidFill>
                <a:latin typeface="Segoe UI"/>
              </a:rPr>
              <a:t>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2980944"/>
            <a:ext cx="4050791" cy="7498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461504" y="3090672"/>
            <a:ext cx="530352" cy="530352"/>
          </a:xfrm>
          <a:prstGeom prst="ellipse">
            <a:avLst/>
          </a:prstGeom>
          <a:solidFill>
            <a:srgbClr val="D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61504" y="3090672"/>
            <a:ext cx="530352" cy="5303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>
                <a:solidFill>
                  <a:srgbClr val="12B3A0"/>
                </a:solidFill>
                <a:latin typeface="Segoe MDL2 Assets"/>
                <a:ea typeface="Segoe MDL2 Assets"/>
                <a:cs typeface="Segoe MDL2 Assets"/>
              </a:rPr>
              <a:t>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74736" y="2980944"/>
            <a:ext cx="3044952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2A44"/>
                </a:solidFill>
                <a:latin typeface="Segoe UI Semibold"/>
              </a:rPr>
              <a:t>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712464"/>
            <a:ext cx="405079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4CDE0"/>
                </a:solidFill>
                <a:latin typeface="Segoe UI"/>
              </a:rPr>
              <a:t>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4041648"/>
            <a:ext cx="4050791" cy="7498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461504" y="4151376"/>
            <a:ext cx="530352" cy="530352"/>
          </a:xfrm>
          <a:prstGeom prst="ellipse">
            <a:avLst/>
          </a:prstGeom>
          <a:solidFill>
            <a:srgbClr val="FD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61504" y="4151376"/>
            <a:ext cx="530352" cy="5303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>
                <a:solidFill>
                  <a:srgbClr val="F2A431"/>
                </a:solidFill>
                <a:latin typeface="Segoe MDL2 Assets"/>
                <a:ea typeface="Segoe MDL2 Assets"/>
                <a:cs typeface="Segoe MDL2 Assets"/>
              </a:rPr>
              <a:t>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4736" y="4041648"/>
            <a:ext cx="3044952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2A44"/>
                </a:solidFill>
                <a:latin typeface="Segoe UI Semibold"/>
              </a:rPr>
              <a:t>Build &amp; Validate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4773168"/>
            <a:ext cx="405079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4CDE0"/>
                </a:solidFill>
                <a:latin typeface="Segoe UI"/>
              </a:rPr>
              <a:t>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5102352"/>
            <a:ext cx="4050791" cy="749808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461504" y="5212080"/>
            <a:ext cx="530352" cy="530352"/>
          </a:xfrm>
          <a:prstGeom prst="ellipse">
            <a:avLst/>
          </a:prstGeom>
          <a:solidFill>
            <a:srgbClr val="ED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61504" y="5212080"/>
            <a:ext cx="530352" cy="53035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700">
                <a:solidFill>
                  <a:srgbClr val="8A6CF0"/>
                </a:solidFill>
                <a:latin typeface="Segoe MDL2 Assets"/>
                <a:ea typeface="Segoe MDL2 Assets"/>
                <a:cs typeface="Segoe MDL2 Assets"/>
              </a:rPr>
              <a:t>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4736" y="5102352"/>
            <a:ext cx="3044952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F2A44"/>
                </a:solidFill>
                <a:latin typeface="Segoe UI Semibold"/>
              </a:rPr>
              <a:t>Evaluate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Segoe UI"/>
              </a:rPr>
              <a:t>MS24901062  ·  Shanaka Madhusanka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5566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Consolas"/>
              </a:rPr>
              <a:t>14 /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F5FE0"/>
                </a:solidFill>
                <a:latin typeface="Consolas"/>
              </a:rPr>
              <a:t>RESEARCH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768096"/>
            <a:ext cx="603504" cy="45720"/>
          </a:xfrm>
          <a:prstGeom prst="roundRect">
            <a:avLst>
              <a:gd name="adj" fmla="val 50000"/>
            </a:avLst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950976"/>
            <a:ext cx="566928" cy="566928"/>
          </a:xfrm>
          <a:prstGeom prst="ellipse">
            <a:avLst/>
          </a:prstGeom>
          <a:solidFill>
            <a:srgbClr val="E1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95097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>
                <a:solidFill>
                  <a:srgbClr val="2F5FE0"/>
                </a:solidFill>
                <a:latin typeface="Segoe MDL2 Assets"/>
                <a:ea typeface="Segoe MDL2 Assets"/>
                <a:cs typeface="Segoe MDL2 Assets"/>
              </a:rPr>
              <a:t>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950976"/>
            <a:ext cx="9692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2A44"/>
                </a:solidFill>
                <a:latin typeface="Segoe UI Light"/>
              </a:rPr>
              <a:t>Five research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874519"/>
            <a:ext cx="5134355" cy="1056131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42416" y="2075688"/>
            <a:ext cx="512064" cy="512064"/>
          </a:xfrm>
          <a:prstGeom prst="ellipse">
            <a:avLst/>
          </a:prstGeom>
          <a:solidFill>
            <a:srgbClr val="DF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2075688"/>
            <a:ext cx="512064" cy="5120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2F5FE0"/>
                </a:solidFill>
                <a:latin typeface="Segoe MDL2 Assets"/>
                <a:ea typeface="Segoe MDL2 Assets"/>
                <a:cs typeface="Segoe MDL2 Assets"/>
              </a:rPr>
              <a:t>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0784" y="2075688"/>
            <a:ext cx="407365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F5FE0"/>
                </a:solidFill>
                <a:latin typeface="Segoe UI Semibold"/>
              </a:rPr>
              <a:t>RQ1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" y="2715768"/>
            <a:ext cx="4695444" cy="960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A5670"/>
                </a:solidFill>
                <a:latin typeface="Segoe UI"/>
              </a:rPr>
              <a:t>How can Generative AI integrate into backend testing &amp; CI/CD pipelines?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1874519"/>
            <a:ext cx="5134355" cy="1056131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1092" y="2075688"/>
            <a:ext cx="512064" cy="512064"/>
          </a:xfrm>
          <a:prstGeom prst="ellipse">
            <a:avLst/>
          </a:prstGeom>
          <a:solidFill>
            <a:srgbClr val="D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1092" y="2075688"/>
            <a:ext cx="512064" cy="5120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12B3A0"/>
                </a:solidFill>
                <a:latin typeface="Segoe MDL2 Assets"/>
                <a:ea typeface="Segoe MDL2 Assets"/>
                <a:cs typeface="Segoe MDL2 Assets"/>
              </a:rPr>
              <a:t>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9460" y="2075688"/>
            <a:ext cx="407365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2B3A0"/>
                </a:solidFill>
                <a:latin typeface="Segoe UI Semibold"/>
              </a:rPr>
              <a:t>RQ2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1092" y="2715768"/>
            <a:ext cx="4695444" cy="960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A5670"/>
                </a:solidFill>
                <a:latin typeface="Segoe UI"/>
              </a:rPr>
              <a:t>Do AI tests improve coverage &amp; defect detection vs. traditional automation?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150107"/>
            <a:ext cx="5134355" cy="1056131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42416" y="3351275"/>
            <a:ext cx="512064" cy="512064"/>
          </a:xfrm>
          <a:prstGeom prst="ellipse">
            <a:avLst/>
          </a:prstGeom>
          <a:solidFill>
            <a:srgbClr val="FD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6" y="3351275"/>
            <a:ext cx="512064" cy="5120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F2A431"/>
                </a:solidFill>
                <a:latin typeface="Segoe MDL2 Assets"/>
                <a:ea typeface="Segoe MDL2 Assets"/>
                <a:cs typeface="Segoe MDL2 Assets"/>
              </a:rPr>
              <a:t>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0784" y="3351275"/>
            <a:ext cx="407365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2A431"/>
                </a:solidFill>
                <a:latin typeface="Segoe UI Semibold"/>
              </a:rPr>
              <a:t>RQ3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" y="3991355"/>
            <a:ext cx="4695444" cy="960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A5670"/>
                </a:solidFill>
                <a:latin typeface="Segoe UI"/>
              </a:rPr>
              <a:t>Can it reduce manual effort &amp; maintenance in evolving systems?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1636" y="3150107"/>
            <a:ext cx="5134355" cy="1056131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51092" y="3351275"/>
            <a:ext cx="512064" cy="512064"/>
          </a:xfrm>
          <a:prstGeom prst="ellipse">
            <a:avLst/>
          </a:prstGeom>
          <a:solidFill>
            <a:srgbClr val="ED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1092" y="3351275"/>
            <a:ext cx="512064" cy="5120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8A6CF0"/>
                </a:solidFill>
                <a:latin typeface="Segoe MDL2 Assets"/>
                <a:ea typeface="Segoe MDL2 Assets"/>
                <a:cs typeface="Segoe MDL2 Assets"/>
              </a:rPr>
              <a:t>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9460" y="3351275"/>
            <a:ext cx="407365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A6CF0"/>
                </a:solidFill>
                <a:latin typeface="Segoe UI Semibold"/>
              </a:rPr>
              <a:t>RQ4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1092" y="3991355"/>
            <a:ext cx="4695444" cy="960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A5670"/>
                </a:solidFill>
                <a:latin typeface="Segoe UI"/>
              </a:rPr>
              <a:t>Can tests respect business rules &amp; structured data formats?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370832"/>
            <a:ext cx="1054303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5840" y="4553712"/>
            <a:ext cx="566928" cy="566928"/>
          </a:xfrm>
          <a:prstGeom prst="ellipse">
            <a:avLst/>
          </a:prstGeom>
          <a:solidFill>
            <a:srgbClr val="FC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553712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>
                <a:solidFill>
                  <a:srgbClr val="F0608A"/>
                </a:solidFill>
                <a:latin typeface="Segoe MDL2 Assets"/>
                <a:ea typeface="Segoe MDL2 Assets"/>
                <a:cs typeface="Segoe MDL2 Assets"/>
              </a:rPr>
              <a:t>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4370832"/>
            <a:ext cx="9418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0608A"/>
                </a:solidFill>
                <a:latin typeface="Segoe UI Semibold"/>
              </a:rPr>
              <a:t>RQ5  </a:t>
            </a:r>
            <a:r>
              <a:rPr sz="1250" b="0" i="0">
                <a:solidFill>
                  <a:srgbClr val="4A5670"/>
                </a:solidFill>
                <a:latin typeface="Segoe UI"/>
              </a:rPr>
              <a:t>— What best practices emerge for organisations adopting Generative AI backend testing?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Segoe UI"/>
              </a:rPr>
              <a:t>MS24901062  ·  Shanaka Madhusanka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5566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Consolas"/>
              </a:rPr>
              <a:t>15 / 33</a:t>
            </a:r>
          </a:p>
        </p:txBody>
      </p:sp>
      <p:sp>
        <p:nvSpPr>
          <p:cNvPr id="5" name="Oval 4"/>
          <p:cNvSpPr/>
          <p:nvPr/>
        </p:nvSpPr>
        <p:spPr>
          <a:xfrm>
            <a:off x="5684367" y="1828800"/>
            <a:ext cx="822960" cy="822960"/>
          </a:xfrm>
          <a:prstGeom prst="ellipse">
            <a:avLst/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84367" y="1828800"/>
            <a:ext cx="822960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700">
                <a:solidFill>
                  <a:srgbClr val="FFFFFF"/>
                </a:solidFill>
                <a:latin typeface="Segoe MDL2 Assets"/>
                <a:ea typeface="Segoe MDL2 Assets"/>
                <a:cs typeface="Segoe MDL2 Assets"/>
              </a:rPr>
              <a:t>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F5FE0"/>
                </a:solidFill>
                <a:latin typeface="Consolas"/>
              </a:rPr>
              <a:t>PART 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03628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1F2A44"/>
                </a:solidFill>
                <a:latin typeface="Segoe UI Light"/>
              </a:rPr>
              <a:t>Research Methodology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41367" y="4343400"/>
            <a:ext cx="1554480" cy="64008"/>
          </a:xfrm>
          <a:prstGeom prst="roundRect">
            <a:avLst>
              <a:gd name="adj" fmla="val 50000"/>
            </a:avLst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95847" y="4343400"/>
            <a:ext cx="1554480" cy="64008"/>
          </a:xfrm>
          <a:prstGeom prst="roundRect">
            <a:avLst>
              <a:gd name="adj" fmla="val 50000"/>
            </a:avLst>
          </a:prstGeom>
          <a:solidFill>
            <a:srgbClr val="12B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spd="med">
    <p:cover dir="l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Segoe UI"/>
              </a:rPr>
              <a:t>MS24901062  ·  Shanaka Madhusanka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5566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Consolas"/>
              </a:rPr>
              <a:t>16 /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F5FE0"/>
                </a:solidFill>
                <a:latin typeface="Consolas"/>
              </a:rPr>
              <a:t>DESIGN SCIENCE RESEARCH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768096"/>
            <a:ext cx="603504" cy="45720"/>
          </a:xfrm>
          <a:prstGeom prst="roundRect">
            <a:avLst>
              <a:gd name="adj" fmla="val 50000"/>
            </a:avLst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950976"/>
            <a:ext cx="566928" cy="566928"/>
          </a:xfrm>
          <a:prstGeom prst="ellipse">
            <a:avLst/>
          </a:prstGeom>
          <a:solidFill>
            <a:srgbClr val="E1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95097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>
                <a:solidFill>
                  <a:srgbClr val="2F5FE0"/>
                </a:solidFill>
                <a:latin typeface="Segoe MDL2 Assets"/>
                <a:ea typeface="Segoe MDL2 Assets"/>
                <a:cs typeface="Segoe MDL2 Assets"/>
              </a:rPr>
              <a:t>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950976"/>
            <a:ext cx="9692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2A44"/>
                </a:solidFill>
                <a:latin typeface="Segoe UI Light"/>
              </a:rPr>
              <a:t>A controlled, design-led method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965960"/>
            <a:ext cx="1845259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1965960"/>
            <a:ext cx="1845259" cy="82296"/>
          </a:xfrm>
          <a:prstGeom prst="roundRect">
            <a:avLst>
              <a:gd name="adj" fmla="val 50000"/>
            </a:avLst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07845" y="2112264"/>
            <a:ext cx="475488" cy="475488"/>
          </a:xfrm>
          <a:prstGeom prst="ellipse">
            <a:avLst/>
          </a:prstGeom>
          <a:solidFill>
            <a:srgbClr val="DF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7845" y="2112264"/>
            <a:ext cx="475488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>
                <a:solidFill>
                  <a:srgbClr val="2F5FE0"/>
                </a:solidFill>
                <a:latin typeface="Segoe MDL2 Assets"/>
                <a:ea typeface="Segoe MDL2 Assets"/>
                <a:cs typeface="Segoe MDL2 Assets"/>
              </a:rPr>
              <a:t>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24328"/>
            <a:ext cx="1662379" cy="6492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F5FE0"/>
                </a:solidFill>
                <a:latin typeface="Consolas"/>
              </a:rPr>
              <a:t>01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2A44"/>
                </a:solidFill>
                <a:latin typeface="Segoe UI Semibold"/>
              </a:rPr>
              <a:t>Problem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7C889F"/>
                </a:solidFill>
                <a:latin typeface="Segoe UI"/>
              </a:rPr>
              <a:t>manual, slow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8219" y="1965960"/>
            <a:ext cx="329184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C4CDE0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97403" y="1965960"/>
            <a:ext cx="1845259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97403" y="1965960"/>
            <a:ext cx="1845259" cy="82296"/>
          </a:xfrm>
          <a:prstGeom prst="roundRect">
            <a:avLst>
              <a:gd name="adj" fmla="val 50000"/>
            </a:avLst>
          </a:prstGeom>
          <a:solidFill>
            <a:srgbClr val="12B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82288" y="2112264"/>
            <a:ext cx="475488" cy="475488"/>
          </a:xfrm>
          <a:prstGeom prst="ellipse">
            <a:avLst/>
          </a:prstGeom>
          <a:solidFill>
            <a:srgbClr val="D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82288" y="2112264"/>
            <a:ext cx="475488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>
                <a:solidFill>
                  <a:srgbClr val="12B3A0"/>
                </a:solidFill>
                <a:latin typeface="Segoe MDL2 Assets"/>
                <a:ea typeface="Segoe MDL2 Assets"/>
                <a:cs typeface="Segoe MDL2 Assets"/>
              </a:rPr>
              <a:t>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88843" y="2624328"/>
            <a:ext cx="1662379" cy="6492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2B3A0"/>
                </a:solidFill>
                <a:latin typeface="Consolas"/>
              </a:rPr>
              <a:t>02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2A44"/>
                </a:solidFill>
                <a:latin typeface="Segoe UI Semibold"/>
              </a:rPr>
              <a:t>Objectives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7C889F"/>
                </a:solidFill>
                <a:latin typeface="Segoe UI"/>
              </a:rPr>
              <a:t>from literature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2662" y="1965960"/>
            <a:ext cx="329184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C4CDE0"/>
                </a:solidFill>
                <a:latin typeface="Segoe U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171846" y="1965960"/>
            <a:ext cx="1845259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171846" y="1965960"/>
            <a:ext cx="1845259" cy="82296"/>
          </a:xfrm>
          <a:prstGeom prst="roundRect">
            <a:avLst>
              <a:gd name="adj" fmla="val 50000"/>
            </a:avLst>
          </a:prstGeom>
          <a:solidFill>
            <a:srgbClr val="F2A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56731" y="2112264"/>
            <a:ext cx="475488" cy="475488"/>
          </a:xfrm>
          <a:prstGeom prst="ellipse">
            <a:avLst/>
          </a:prstGeom>
          <a:solidFill>
            <a:srgbClr val="FD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6731" y="2112264"/>
            <a:ext cx="475488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>
                <a:solidFill>
                  <a:srgbClr val="F2A431"/>
                </a:solidFill>
                <a:latin typeface="Segoe MDL2 Assets"/>
                <a:ea typeface="Segoe MDL2 Assets"/>
                <a:cs typeface="Segoe MDL2 Assets"/>
              </a:rPr>
              <a:t>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63286" y="2624328"/>
            <a:ext cx="1662379" cy="6492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2A431"/>
                </a:solidFill>
                <a:latin typeface="Consolas"/>
              </a:rPr>
              <a:t>03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2A44"/>
                </a:solidFill>
                <a:latin typeface="Segoe UI Semibold"/>
              </a:rPr>
              <a:t>Artefact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7C889F"/>
                </a:solidFill>
                <a:latin typeface="Segoe UI"/>
              </a:rPr>
              <a:t>5-mode framework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7105" y="1965960"/>
            <a:ext cx="329184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C4CDE0"/>
                </a:solidFill>
                <a:latin typeface="Segoe U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46289" y="1965960"/>
            <a:ext cx="1845259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46289" y="1965960"/>
            <a:ext cx="1845259" cy="82296"/>
          </a:xfrm>
          <a:prstGeom prst="roundRect">
            <a:avLst>
              <a:gd name="adj" fmla="val 50000"/>
            </a:avLst>
          </a:prstGeom>
          <a:solidFill>
            <a:srgbClr val="8A6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31175" y="2112264"/>
            <a:ext cx="475488" cy="475488"/>
          </a:xfrm>
          <a:prstGeom prst="ellipse">
            <a:avLst/>
          </a:prstGeom>
          <a:solidFill>
            <a:srgbClr val="ED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31175" y="2112264"/>
            <a:ext cx="475488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>
                <a:solidFill>
                  <a:srgbClr val="8A6CF0"/>
                </a:solidFill>
                <a:latin typeface="Segoe MDL2 Assets"/>
                <a:ea typeface="Segoe MDL2 Assets"/>
                <a:cs typeface="Segoe MDL2 Assets"/>
              </a:rPr>
              <a:t>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37729" y="2624328"/>
            <a:ext cx="1662379" cy="6492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8A6CF0"/>
                </a:solidFill>
                <a:latin typeface="Consolas"/>
              </a:rPr>
              <a:t>04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2A44"/>
                </a:solidFill>
                <a:latin typeface="Segoe UI Semibold"/>
              </a:rPr>
              <a:t>Demonstrate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7C889F"/>
                </a:solidFill>
                <a:latin typeface="Segoe UI"/>
              </a:rPr>
              <a:t>.NET prototype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91548" y="1965960"/>
            <a:ext cx="329184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C4CDE0"/>
                </a:solidFill>
                <a:latin typeface="Segoe U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20732" y="1965960"/>
            <a:ext cx="1845259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520732" y="1965960"/>
            <a:ext cx="1845259" cy="82296"/>
          </a:xfrm>
          <a:prstGeom prst="roundRect">
            <a:avLst>
              <a:gd name="adj" fmla="val 50000"/>
            </a:avLst>
          </a:prstGeom>
          <a:solidFill>
            <a:srgbClr val="F06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05618" y="2112264"/>
            <a:ext cx="475488" cy="475488"/>
          </a:xfrm>
          <a:prstGeom prst="ellipse">
            <a:avLst/>
          </a:prstGeom>
          <a:solidFill>
            <a:srgbClr val="FC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05618" y="2112264"/>
            <a:ext cx="475488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>
                <a:solidFill>
                  <a:srgbClr val="F0608A"/>
                </a:solidFill>
                <a:latin typeface="Segoe MDL2 Assets"/>
                <a:ea typeface="Segoe MDL2 Assets"/>
                <a:cs typeface="Segoe MDL2 Assets"/>
              </a:rPr>
              <a:t>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12172" y="2624328"/>
            <a:ext cx="1662379" cy="6492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0608A"/>
                </a:solidFill>
                <a:latin typeface="Consolas"/>
              </a:rPr>
              <a:t>05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2A44"/>
                </a:solidFill>
                <a:latin typeface="Segoe UI Semibold"/>
              </a:rPr>
              <a:t>Evaluate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7C889F"/>
                </a:solidFill>
                <a:latin typeface="Segoe UI"/>
              </a:rPr>
              <a:t>controlled experiment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3657600"/>
            <a:ext cx="5134355" cy="1463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42416" y="3858768"/>
            <a:ext cx="512064" cy="512064"/>
          </a:xfrm>
          <a:prstGeom prst="ellipse">
            <a:avLst/>
          </a:prstGeom>
          <a:solidFill>
            <a:srgbClr val="DF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2416" y="3858768"/>
            <a:ext cx="512064" cy="5120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2F5FE0"/>
                </a:solidFill>
                <a:latin typeface="Segoe MDL2 Assets"/>
                <a:ea typeface="Segoe MDL2 Assets"/>
                <a:cs typeface="Segoe MDL2 Assets"/>
              </a:rPr>
              <a:t>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00784" y="3858768"/>
            <a:ext cx="407365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F5FE0"/>
                </a:solidFill>
                <a:latin typeface="Segoe UI Semibold"/>
              </a:rPr>
              <a:t>Controlled variables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" y="4498848"/>
            <a:ext cx="46954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A5670"/>
                </a:solidFill>
                <a:latin typeface="Segoe UI"/>
              </a:rPr>
              <a:t>Same BA document, target backend, templates &amp; environment, and metrics.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31636" y="3657600"/>
            <a:ext cx="5134355" cy="1463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51092" y="3858768"/>
            <a:ext cx="512064" cy="512064"/>
          </a:xfrm>
          <a:prstGeom prst="ellipse">
            <a:avLst/>
          </a:prstGeom>
          <a:solidFill>
            <a:srgbClr val="D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51092" y="3858768"/>
            <a:ext cx="512064" cy="5120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12B3A0"/>
                </a:solidFill>
                <a:latin typeface="Segoe MDL2 Assets"/>
                <a:ea typeface="Segoe MDL2 Assets"/>
                <a:cs typeface="Segoe MDL2 Assets"/>
              </a:rPr>
              <a:t>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09460" y="3858768"/>
            <a:ext cx="407365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2B3A0"/>
                </a:solidFill>
                <a:latin typeface="Segoe UI Semibold"/>
              </a:rPr>
              <a:t>Independent vs. dependent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51092" y="4498848"/>
            <a:ext cx="46954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A5670"/>
                </a:solidFill>
                <a:latin typeface="Segoe UI"/>
              </a:rPr>
              <a:t>IV: AI architecture.  DV: coverage, validity, mutation, time, success.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Segoe UI"/>
              </a:rPr>
              <a:t>MS24901062  ·  Shanaka Madhusanka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5566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Consolas"/>
              </a:rPr>
              <a:t>17 / 33</a:t>
            </a:r>
          </a:p>
        </p:txBody>
      </p:sp>
      <p:sp>
        <p:nvSpPr>
          <p:cNvPr id="5" name="Oval 4"/>
          <p:cNvSpPr/>
          <p:nvPr/>
        </p:nvSpPr>
        <p:spPr>
          <a:xfrm>
            <a:off x="5684367" y="1828800"/>
            <a:ext cx="822960" cy="822960"/>
          </a:xfrm>
          <a:prstGeom prst="ellipse">
            <a:avLst/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84367" y="1828800"/>
            <a:ext cx="822960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700">
                <a:solidFill>
                  <a:srgbClr val="FFFFFF"/>
                </a:solidFill>
                <a:latin typeface="Segoe MDL2 Assets"/>
                <a:ea typeface="Segoe MDL2 Assets"/>
                <a:cs typeface="Segoe MDL2 Assets"/>
              </a:rPr>
              <a:t>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F5FE0"/>
                </a:solidFill>
                <a:latin typeface="Consolas"/>
              </a:rPr>
              <a:t>PART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03628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1F2A44"/>
                </a:solidFill>
                <a:latin typeface="Segoe UI Light"/>
              </a:rPr>
              <a:t>Proposed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41367" y="4343400"/>
            <a:ext cx="1554480" cy="64008"/>
          </a:xfrm>
          <a:prstGeom prst="roundRect">
            <a:avLst>
              <a:gd name="adj" fmla="val 50000"/>
            </a:avLst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95847" y="4343400"/>
            <a:ext cx="1554480" cy="64008"/>
          </a:xfrm>
          <a:prstGeom prst="roundRect">
            <a:avLst>
              <a:gd name="adj" fmla="val 50000"/>
            </a:avLst>
          </a:prstGeom>
          <a:solidFill>
            <a:srgbClr val="12B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spd="med">
    <p:cover dir="l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Segoe UI"/>
              </a:rPr>
              <a:t>MS24901062  ·  Shanaka Madhusanka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5566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Consolas"/>
              </a:rPr>
              <a:t>18 /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F5FE0"/>
                </a:solidFill>
                <a:latin typeface="Consolas"/>
              </a:rPr>
              <a:t>FIVE AI CONFIGURATIONS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768096"/>
            <a:ext cx="603504" cy="45720"/>
          </a:xfrm>
          <a:prstGeom prst="roundRect">
            <a:avLst>
              <a:gd name="adj" fmla="val 50000"/>
            </a:avLst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950976"/>
            <a:ext cx="566928" cy="566928"/>
          </a:xfrm>
          <a:prstGeom prst="ellipse">
            <a:avLst/>
          </a:prstGeom>
          <a:solidFill>
            <a:srgbClr val="E1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95097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>
                <a:solidFill>
                  <a:srgbClr val="2F5FE0"/>
                </a:solidFill>
                <a:latin typeface="Segoe MDL2 Assets"/>
                <a:ea typeface="Segoe MDL2 Assets"/>
                <a:cs typeface="Segoe MDL2 Assets"/>
              </a:rPr>
              <a:t>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950976"/>
            <a:ext cx="9692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2A44"/>
                </a:solidFill>
                <a:latin typeface="Segoe UI Light"/>
              </a:rPr>
              <a:t>One pipeline, five configurations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874519"/>
            <a:ext cx="5134355" cy="1056131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42416" y="2075688"/>
            <a:ext cx="512064" cy="512064"/>
          </a:xfrm>
          <a:prstGeom prst="ellipse">
            <a:avLst/>
          </a:prstGeom>
          <a:solidFill>
            <a:srgbClr val="DF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2075688"/>
            <a:ext cx="512064" cy="5120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2F5FE0"/>
                </a:solidFill>
                <a:latin typeface="Segoe MDL2 Assets"/>
                <a:ea typeface="Segoe MDL2 Assets"/>
                <a:cs typeface="Segoe MDL2 Assets"/>
              </a:rPr>
              <a:t>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0784" y="2075688"/>
            <a:ext cx="407365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F5FE0"/>
                </a:solidFill>
                <a:latin typeface="Segoe UI Semibold"/>
              </a:rPr>
              <a:t>LLM — 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" y="2715768"/>
            <a:ext cx="4695444" cy="960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A5670"/>
                </a:solidFill>
                <a:latin typeface="Segoe UI"/>
              </a:rPr>
              <a:t>Direct generation from requirements. No retrieval, no adaptation.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1874519"/>
            <a:ext cx="5134355" cy="1056131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1092" y="2075688"/>
            <a:ext cx="512064" cy="512064"/>
          </a:xfrm>
          <a:prstGeom prst="ellipse">
            <a:avLst/>
          </a:prstGeom>
          <a:solidFill>
            <a:srgbClr val="D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1092" y="2075688"/>
            <a:ext cx="512064" cy="5120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12B3A0"/>
                </a:solidFill>
                <a:latin typeface="Segoe MDL2 Assets"/>
                <a:ea typeface="Segoe MDL2 Assets"/>
                <a:cs typeface="Segoe MDL2 Assets"/>
              </a:rPr>
              <a:t>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9460" y="2075688"/>
            <a:ext cx="407365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2B3A0"/>
                </a:solidFill>
                <a:latin typeface="Segoe UI Semibold"/>
              </a:rPr>
              <a:t>RAG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1092" y="2715768"/>
            <a:ext cx="4695444" cy="960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A5670"/>
                </a:solidFill>
                <a:latin typeface="Segoe UI"/>
              </a:rPr>
              <a:t>Retrieves relevant document segments as grounded context.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150107"/>
            <a:ext cx="5134355" cy="1056131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42416" y="3351275"/>
            <a:ext cx="512064" cy="512064"/>
          </a:xfrm>
          <a:prstGeom prst="ellipse">
            <a:avLst/>
          </a:prstGeom>
          <a:solidFill>
            <a:srgbClr val="FD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6" y="3351275"/>
            <a:ext cx="512064" cy="5120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F2A431"/>
                </a:solidFill>
                <a:latin typeface="Segoe MDL2 Assets"/>
                <a:ea typeface="Segoe MDL2 Assets"/>
                <a:cs typeface="Segoe MDL2 Assets"/>
              </a:rPr>
              <a:t>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0784" y="3351275"/>
            <a:ext cx="407365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2A431"/>
                </a:solidFill>
                <a:latin typeface="Segoe UI Semibold"/>
              </a:rPr>
              <a:t>Hybrid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" y="3991355"/>
            <a:ext cx="4695444" cy="960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A5670"/>
                </a:solidFill>
                <a:latin typeface="Segoe UI"/>
              </a:rPr>
              <a:t>RAG + static code analysis + rule-based validation.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1636" y="3150107"/>
            <a:ext cx="5134355" cy="1056131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51092" y="3351275"/>
            <a:ext cx="512064" cy="512064"/>
          </a:xfrm>
          <a:prstGeom prst="ellipse">
            <a:avLst/>
          </a:prstGeom>
          <a:solidFill>
            <a:srgbClr val="ED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1092" y="3351275"/>
            <a:ext cx="512064" cy="5120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8A6CF0"/>
                </a:solidFill>
                <a:latin typeface="Segoe MDL2 Assets"/>
                <a:ea typeface="Segoe MDL2 Assets"/>
                <a:cs typeface="Segoe MDL2 Assets"/>
              </a:rPr>
              <a:t>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9460" y="3351275"/>
            <a:ext cx="407365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A6CF0"/>
                </a:solidFill>
                <a:latin typeface="Segoe UI Semibold"/>
              </a:rPr>
              <a:t>LoRA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1092" y="3991355"/>
            <a:ext cx="4695444" cy="960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A5670"/>
                </a:solidFill>
                <a:latin typeface="Segoe UI"/>
              </a:rPr>
              <a:t>Parameter-efficient fine-tuning to the testing domain.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370832"/>
            <a:ext cx="1054303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5840" y="4553712"/>
            <a:ext cx="566928" cy="566928"/>
          </a:xfrm>
          <a:prstGeom prst="ellipse">
            <a:avLst/>
          </a:prstGeom>
          <a:solidFill>
            <a:srgbClr val="FC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553712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>
                <a:solidFill>
                  <a:srgbClr val="F0608A"/>
                </a:solidFill>
                <a:latin typeface="Segoe MDL2 Assets"/>
                <a:ea typeface="Segoe MDL2 Assets"/>
                <a:cs typeface="Segoe MDL2 Assets"/>
              </a:rPr>
              <a:t>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83080" y="4370832"/>
            <a:ext cx="9418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0608A"/>
                </a:solidFill>
                <a:latin typeface="Segoe UI Semibold"/>
              </a:rPr>
              <a:t>LoRA + RAG  </a:t>
            </a:r>
            <a:r>
              <a:rPr sz="1200" b="0" i="0">
                <a:solidFill>
                  <a:srgbClr val="4A5670"/>
                </a:solidFill>
                <a:latin typeface="Segoe UI"/>
              </a:rPr>
              <a:t>— Domain-adapted model and contextual retrieval — the strongest configuration.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Segoe UI"/>
              </a:rPr>
              <a:t>MS24901062  ·  Shanaka Madhusanka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5566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Consolas"/>
              </a:rPr>
              <a:t>19 /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F5FE0"/>
                </a:solidFill>
                <a:latin typeface="Consolas"/>
              </a:rPr>
              <a:t>ALGORITHM PER CONFIGURATION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768096"/>
            <a:ext cx="603504" cy="45720"/>
          </a:xfrm>
          <a:prstGeom prst="roundRect">
            <a:avLst>
              <a:gd name="adj" fmla="val 50000"/>
            </a:avLst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950976"/>
            <a:ext cx="566928" cy="566928"/>
          </a:xfrm>
          <a:prstGeom prst="ellipse">
            <a:avLst/>
          </a:prstGeom>
          <a:solidFill>
            <a:srgbClr val="E1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95097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>
                <a:solidFill>
                  <a:srgbClr val="2F5FE0"/>
                </a:solidFill>
                <a:latin typeface="Segoe MDL2 Assets"/>
                <a:ea typeface="Segoe MDL2 Assets"/>
                <a:cs typeface="Segoe MDL2 Assets"/>
              </a:rPr>
              <a:t>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950976"/>
            <a:ext cx="9692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2A44"/>
                </a:solidFill>
                <a:latin typeface="Segoe UI Light"/>
              </a:rPr>
              <a:t>The technique behind each mode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874519"/>
          <a:ext cx="10543032" cy="36210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3383280"/>
                <a:gridCol w="5056632"/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Configuration</a:t>
                      </a:r>
                    </a:p>
                  </a:txBody>
                  <a:tcPr anchor="ctr" marL="109728">
                    <a:solidFill>
                      <a:srgbClr val="1721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Core algorithm / technique</a:t>
                      </a:r>
                    </a:p>
                  </a:txBody>
                  <a:tcPr anchor="ctr" marL="109728">
                    <a:solidFill>
                      <a:srgbClr val="1721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How it works</a:t>
                      </a:r>
                    </a:p>
                  </a:txBody>
                  <a:tcPr anchor="ctr" marL="109728">
                    <a:solidFill>
                      <a:srgbClr val="17214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44"/>
                          </a:solidFill>
                          <a:latin typeface="Consolas"/>
                        </a:rPr>
                        <a:t>LLM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Zero-/few-shot prompting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Decoder-only transformer maps requirements → test completion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44"/>
                          </a:solidFill>
                          <a:latin typeface="Consolas"/>
                        </a:rPr>
                        <a:t>RAG</a:t>
                      </a:r>
                    </a:p>
                  </a:txBody>
                  <a:tcPr anchor="ctr" marL="109728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Retrieval-Augmented Generation</a:t>
                      </a:r>
                    </a:p>
                  </a:txBody>
                  <a:tcPr anchor="ctr" marL="109728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Embed chunks · cosine top-k (Qdrant) → context-augmented prompt</a:t>
                      </a:r>
                    </a:p>
                  </a:txBody>
                  <a:tcPr anchor="ctr" marL="109728">
                    <a:solidFill>
                      <a:srgbClr val="FAFBF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44"/>
                          </a:solidFill>
                          <a:latin typeface="Consolas"/>
                        </a:rPr>
                        <a:t>Hybrid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RAG + static analysis + rules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Roslyn endpoint discovery + rule-based validation &amp; repair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44"/>
                          </a:solidFill>
                          <a:latin typeface="Consolas"/>
                        </a:rPr>
                        <a:t>LoRA</a:t>
                      </a:r>
                    </a:p>
                  </a:txBody>
                  <a:tcPr anchor="ctr" marL="109728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QLoRA / PEFT fine-tuning</a:t>
                      </a:r>
                    </a:p>
                  </a:txBody>
                  <a:tcPr anchor="ctr" marL="109728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Low-rank adapters on a code base model · completion-only SFT</a:t>
                      </a:r>
                    </a:p>
                  </a:txBody>
                  <a:tcPr anchor="ctr" marL="109728">
                    <a:solidFill>
                      <a:srgbClr val="FAFBF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2B3A0"/>
                          </a:solidFill>
                          <a:latin typeface="Consolas"/>
                        </a:rPr>
                        <a:t>LoRA + RAG</a:t>
                      </a:r>
                    </a:p>
                  </a:txBody>
                  <a:tcPr anchor="ctr" marL="109728">
                    <a:solidFill>
                      <a:srgbClr val="EA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Fine-tuned model + retrieval</a:t>
                      </a:r>
                    </a:p>
                  </a:txBody>
                  <a:tcPr anchor="ctr" marL="109728">
                    <a:solidFill>
                      <a:srgbClr val="EA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Adapter inference grounded by retrieved documentation</a:t>
                      </a:r>
                    </a:p>
                  </a:txBody>
                  <a:tcPr anchor="ctr" marL="109728">
                    <a:solidFill>
                      <a:srgbClr val="EAFAF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22960" y="56692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7C889F"/>
                </a:solidFill>
                <a:latin typeface="Segoe UI"/>
              </a:rPr>
              <a:t>Each mode adds one capability — context (RAG), validation (Hybrid), or adaptation (LoRA) — over the LLM baseline.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Segoe UI"/>
              </a:rPr>
              <a:t>MS24901062  ·  Shanaka Madhusanka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5566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Consolas"/>
              </a:rPr>
              <a:t>20 /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F5FE0"/>
                </a:solidFill>
                <a:latin typeface="Consolas"/>
              </a:rPr>
              <a:t>END-TO-END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768096"/>
            <a:ext cx="603504" cy="45720"/>
          </a:xfrm>
          <a:prstGeom prst="roundRect">
            <a:avLst>
              <a:gd name="adj" fmla="val 50000"/>
            </a:avLst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950976"/>
            <a:ext cx="566928" cy="566928"/>
          </a:xfrm>
          <a:prstGeom prst="ellipse">
            <a:avLst/>
          </a:prstGeom>
          <a:solidFill>
            <a:srgbClr val="E1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95097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>
                <a:solidFill>
                  <a:srgbClr val="2F5FE0"/>
                </a:solidFill>
                <a:latin typeface="Segoe MDL2 Assets"/>
                <a:ea typeface="Segoe MDL2 Assets"/>
                <a:cs typeface="Segoe MDL2 Assets"/>
              </a:rPr>
              <a:t>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950976"/>
            <a:ext cx="9692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2A44"/>
                </a:solidFill>
                <a:latin typeface="Segoe UI Light"/>
              </a:rPr>
              <a:t>From document to validated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011680"/>
            <a:ext cx="238887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011680"/>
            <a:ext cx="2388870" cy="82296"/>
          </a:xfrm>
          <a:prstGeom prst="roundRect">
            <a:avLst>
              <a:gd name="adj" fmla="val 50000"/>
            </a:avLst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79650" y="2157984"/>
            <a:ext cx="475488" cy="475488"/>
          </a:xfrm>
          <a:prstGeom prst="ellipse">
            <a:avLst/>
          </a:prstGeom>
          <a:solidFill>
            <a:srgbClr val="DF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79650" y="2157984"/>
            <a:ext cx="475488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>
                <a:solidFill>
                  <a:srgbClr val="2F5FE0"/>
                </a:solidFill>
                <a:latin typeface="Segoe MDL2 Assets"/>
                <a:ea typeface="Segoe MDL2 Assets"/>
                <a:cs typeface="Segoe MDL2 Assets"/>
              </a:rPr>
              <a:t>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70048"/>
            <a:ext cx="2205989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2F5FE0"/>
                </a:solidFill>
                <a:latin typeface="Consolas"/>
              </a:rPr>
              <a:t>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2A44"/>
                </a:solidFill>
                <a:latin typeface="Segoe UI Semibold"/>
              </a:rPr>
              <a:t>BA Document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7C889F"/>
                </a:solidFill>
                <a:latin typeface="Segoe UI"/>
              </a:rPr>
              <a:t>PDF upload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11829" y="2011680"/>
            <a:ext cx="329184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C4CDE0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41013" y="2011680"/>
            <a:ext cx="238887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41013" y="2011680"/>
            <a:ext cx="2388870" cy="82296"/>
          </a:xfrm>
          <a:prstGeom prst="roundRect">
            <a:avLst>
              <a:gd name="adj" fmla="val 50000"/>
            </a:avLst>
          </a:prstGeom>
          <a:solidFill>
            <a:srgbClr val="12B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97704" y="2157984"/>
            <a:ext cx="475488" cy="475488"/>
          </a:xfrm>
          <a:prstGeom prst="ellipse">
            <a:avLst/>
          </a:prstGeom>
          <a:solidFill>
            <a:srgbClr val="D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7704" y="2157984"/>
            <a:ext cx="475488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>
                <a:solidFill>
                  <a:srgbClr val="12B3A0"/>
                </a:solidFill>
                <a:latin typeface="Segoe MDL2 Assets"/>
                <a:ea typeface="Segoe MDL2 Assets"/>
                <a:cs typeface="Segoe MDL2 Assets"/>
              </a:rPr>
              <a:t>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2453" y="2670048"/>
            <a:ext cx="2205989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12B3A0"/>
                </a:solidFill>
                <a:latin typeface="Consolas"/>
              </a:rPr>
              <a:t>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2A44"/>
                </a:solidFill>
                <a:latin typeface="Segoe UI Semibold"/>
              </a:rPr>
              <a:t>Ingest &amp; Extract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7C889F"/>
                </a:solidFill>
                <a:latin typeface="Segoe UI"/>
              </a:rPr>
              <a:t>endpoints · 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29883" y="2011680"/>
            <a:ext cx="329184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C4CDE0"/>
                </a:solidFill>
                <a:latin typeface="Segoe U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59067" y="2011680"/>
            <a:ext cx="238887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59067" y="2011680"/>
            <a:ext cx="2388870" cy="82296"/>
          </a:xfrm>
          <a:prstGeom prst="roundRect">
            <a:avLst>
              <a:gd name="adj" fmla="val 50000"/>
            </a:avLst>
          </a:prstGeom>
          <a:solidFill>
            <a:srgbClr val="F2A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215758" y="2157984"/>
            <a:ext cx="475488" cy="475488"/>
          </a:xfrm>
          <a:prstGeom prst="ellipse">
            <a:avLst/>
          </a:prstGeom>
          <a:solidFill>
            <a:srgbClr val="FD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15758" y="2157984"/>
            <a:ext cx="475488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>
                <a:solidFill>
                  <a:srgbClr val="F2A431"/>
                </a:solidFill>
                <a:latin typeface="Segoe MDL2 Assets"/>
                <a:ea typeface="Segoe MDL2 Assets"/>
                <a:cs typeface="Segoe MDL2 Assets"/>
              </a:rPr>
              <a:t>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507" y="2670048"/>
            <a:ext cx="2205989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2A431"/>
                </a:solidFill>
                <a:latin typeface="Consolas"/>
              </a:rPr>
              <a:t>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2A44"/>
                </a:solidFill>
                <a:latin typeface="Segoe UI Semibold"/>
              </a:rPr>
              <a:t>AI Generation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7C889F"/>
                </a:solidFill>
                <a:latin typeface="Segoe UI"/>
              </a:rPr>
              <a:t>5 pipelines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7938" y="2011680"/>
            <a:ext cx="329184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C4CDE0"/>
                </a:solidFill>
                <a:latin typeface="Segoe U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77122" y="2011680"/>
            <a:ext cx="238887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77122" y="2011680"/>
            <a:ext cx="2388870" cy="82296"/>
          </a:xfrm>
          <a:prstGeom prst="roundRect">
            <a:avLst>
              <a:gd name="adj" fmla="val 50000"/>
            </a:avLst>
          </a:prstGeom>
          <a:solidFill>
            <a:srgbClr val="8A6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933813" y="2157984"/>
            <a:ext cx="475488" cy="475488"/>
          </a:xfrm>
          <a:prstGeom prst="ellipse">
            <a:avLst/>
          </a:prstGeom>
          <a:solidFill>
            <a:srgbClr val="ED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33813" y="2157984"/>
            <a:ext cx="475488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>
                <a:solidFill>
                  <a:srgbClr val="8A6CF0"/>
                </a:solidFill>
                <a:latin typeface="Segoe MDL2 Assets"/>
                <a:ea typeface="Segoe MDL2 Assets"/>
                <a:cs typeface="Segoe MDL2 Assets"/>
              </a:rPr>
              <a:t>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68561" y="2670048"/>
            <a:ext cx="2205989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8A6CF0"/>
                </a:solidFill>
                <a:latin typeface="Consolas"/>
              </a:rPr>
              <a:t>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2A44"/>
                </a:solidFill>
                <a:latin typeface="Segoe UI Semibold"/>
              </a:rPr>
              <a:t>Structured Tests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7C889F"/>
                </a:solidFill>
                <a:latin typeface="Segoe UI"/>
              </a:rPr>
              <a:t>de-dup · validation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3794760"/>
            <a:ext cx="238887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2960" y="3794760"/>
            <a:ext cx="2388870" cy="82296"/>
          </a:xfrm>
          <a:prstGeom prst="roundRect">
            <a:avLst>
              <a:gd name="adj" fmla="val 50000"/>
            </a:avLst>
          </a:prstGeom>
          <a:solidFill>
            <a:srgbClr val="F060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779650" y="3941064"/>
            <a:ext cx="475488" cy="475488"/>
          </a:xfrm>
          <a:prstGeom prst="ellipse">
            <a:avLst/>
          </a:prstGeom>
          <a:solidFill>
            <a:srgbClr val="FC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79650" y="3941064"/>
            <a:ext cx="475488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>
                <a:solidFill>
                  <a:srgbClr val="F0608A"/>
                </a:solidFill>
                <a:latin typeface="Segoe MDL2 Assets"/>
                <a:ea typeface="Segoe MDL2 Assets"/>
                <a:cs typeface="Segoe MDL2 Assets"/>
              </a:rPr>
              <a:t>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453128"/>
            <a:ext cx="220598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F0608A"/>
                </a:solidFill>
                <a:latin typeface="Consolas"/>
              </a:rPr>
              <a:t>5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2A44"/>
                </a:solidFill>
                <a:latin typeface="Segoe UI Semibold"/>
              </a:rPr>
              <a:t>CI/CD Execute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7C889F"/>
                </a:solidFill>
                <a:latin typeface="Segoe UI"/>
              </a:rPr>
              <a:t>xUnit run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11829" y="3794760"/>
            <a:ext cx="32918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C4CDE0"/>
                </a:solidFill>
                <a:latin typeface="Segoe UI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541013" y="3794760"/>
            <a:ext cx="238887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541013" y="3794760"/>
            <a:ext cx="2388870" cy="82296"/>
          </a:xfrm>
          <a:prstGeom prst="roundRect">
            <a:avLst>
              <a:gd name="adj" fmla="val 50000"/>
            </a:avLst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97704" y="3941064"/>
            <a:ext cx="475488" cy="475488"/>
          </a:xfrm>
          <a:prstGeom prst="ellipse">
            <a:avLst/>
          </a:prstGeom>
          <a:solidFill>
            <a:srgbClr val="DF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97704" y="3941064"/>
            <a:ext cx="475488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>
                <a:solidFill>
                  <a:srgbClr val="2F5FE0"/>
                </a:solidFill>
                <a:latin typeface="Segoe MDL2 Assets"/>
                <a:ea typeface="Segoe MDL2 Assets"/>
                <a:cs typeface="Segoe MDL2 Assets"/>
              </a:rPr>
              <a:t>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32453" y="4453128"/>
            <a:ext cx="220598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2A44"/>
                </a:solidFill>
                <a:latin typeface="Segoe UI Semibold"/>
              </a:rPr>
              <a:t>Coverage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29883" y="3794760"/>
            <a:ext cx="32918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C4CDE0"/>
                </a:solidFill>
                <a:latin typeface="Segoe UI"/>
              </a:rP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59067" y="3794760"/>
            <a:ext cx="238887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259067" y="3794760"/>
            <a:ext cx="2388870" cy="82296"/>
          </a:xfrm>
          <a:prstGeom prst="roundRect">
            <a:avLst>
              <a:gd name="adj" fmla="val 50000"/>
            </a:avLst>
          </a:prstGeom>
          <a:solidFill>
            <a:srgbClr val="12B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215758" y="3941064"/>
            <a:ext cx="475488" cy="475488"/>
          </a:xfrm>
          <a:prstGeom prst="ellipse">
            <a:avLst/>
          </a:prstGeom>
          <a:solidFill>
            <a:srgbClr val="D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15758" y="3941064"/>
            <a:ext cx="475488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>
                <a:solidFill>
                  <a:srgbClr val="12B3A0"/>
                </a:solidFill>
                <a:latin typeface="Segoe MDL2 Assets"/>
                <a:ea typeface="Segoe MDL2 Assets"/>
                <a:cs typeface="Segoe MDL2 Assets"/>
              </a:rPr>
              <a:t>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507" y="4453128"/>
            <a:ext cx="220598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2A44"/>
                </a:solidFill>
                <a:latin typeface="Segoe UI Semibold"/>
              </a:rPr>
              <a:t>Mutation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47938" y="3794760"/>
            <a:ext cx="329184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C4CDE0"/>
                </a:solidFill>
                <a:latin typeface="Segoe UI"/>
              </a:rPr>
              <a:t>→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977122" y="3794760"/>
            <a:ext cx="238887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977122" y="3794760"/>
            <a:ext cx="2388870" cy="82296"/>
          </a:xfrm>
          <a:prstGeom prst="roundRect">
            <a:avLst>
              <a:gd name="adj" fmla="val 50000"/>
            </a:avLst>
          </a:prstGeom>
          <a:solidFill>
            <a:srgbClr val="F2A4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33813" y="3941064"/>
            <a:ext cx="475488" cy="475488"/>
          </a:xfrm>
          <a:prstGeom prst="ellipse">
            <a:avLst/>
          </a:prstGeom>
          <a:solidFill>
            <a:srgbClr val="FD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33813" y="3941064"/>
            <a:ext cx="475488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>
                <a:solidFill>
                  <a:srgbClr val="F2A431"/>
                </a:solidFill>
                <a:latin typeface="Segoe MDL2 Assets"/>
                <a:ea typeface="Segoe MDL2 Assets"/>
                <a:cs typeface="Segoe MDL2 Assets"/>
              </a:rPr>
              <a:t>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68561" y="4453128"/>
            <a:ext cx="2205989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F2A44"/>
                </a:solidFill>
                <a:latin typeface="Segoe UI Semibold"/>
              </a:rPr>
              <a:t>Execution Validity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Segoe UI"/>
              </a:rPr>
              <a:t>MS24901062  ·  Shanaka Madhusanka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5566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Consolas"/>
              </a:rPr>
              <a:t>21 /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F5FE0"/>
                </a:solidFill>
                <a:latin typeface="Consolas"/>
              </a:rPr>
              <a:t>SYSTEM DESIGN &amp; IMPLEMENTATION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768096"/>
            <a:ext cx="603504" cy="45720"/>
          </a:xfrm>
          <a:prstGeom prst="roundRect">
            <a:avLst>
              <a:gd name="adj" fmla="val 50000"/>
            </a:avLst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950976"/>
            <a:ext cx="566928" cy="566928"/>
          </a:xfrm>
          <a:prstGeom prst="ellipse">
            <a:avLst/>
          </a:prstGeom>
          <a:solidFill>
            <a:srgbClr val="E1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95097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>
                <a:solidFill>
                  <a:srgbClr val="2F5FE0"/>
                </a:solidFill>
                <a:latin typeface="Segoe MDL2 Assets"/>
                <a:ea typeface="Segoe MDL2 Assets"/>
                <a:cs typeface="Segoe MDL2 Assets"/>
              </a:rPr>
              <a:t>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950976"/>
            <a:ext cx="9692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2A44"/>
                </a:solidFill>
                <a:latin typeface="Segoe UI Light"/>
              </a:rPr>
              <a:t>Built as an embeddable .NET tool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2A44"/>
                </a:solidFill>
                <a:latin typeface="Segoe UI Semibold"/>
              </a:rPr>
              <a:t>Technology stack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176272"/>
            <a:ext cx="1716328" cy="310896"/>
          </a:xfrm>
          <a:prstGeom prst="roundRect">
            <a:avLst>
              <a:gd name="adj" fmla="val 50000"/>
            </a:avLst>
          </a:prstGeom>
          <a:solidFill>
            <a:srgbClr val="EAEFFB"/>
          </a:solidFill>
          <a:ln w="9525">
            <a:solidFill>
              <a:srgbClr val="ABB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176272"/>
            <a:ext cx="17163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F5FE0"/>
                </a:solidFill>
                <a:latin typeface="Consolas"/>
              </a:rPr>
              <a:t>.NET / ASP.NET 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49016" y="2176272"/>
            <a:ext cx="653796" cy="310896"/>
          </a:xfrm>
          <a:prstGeom prst="roundRect">
            <a:avLst>
              <a:gd name="adj" fmla="val 50000"/>
            </a:avLst>
          </a:prstGeom>
          <a:solidFill>
            <a:srgbClr val="E7F7F5"/>
          </a:solidFill>
          <a:ln w="9525">
            <a:solidFill>
              <a:srgbClr val="A0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49016" y="2176272"/>
            <a:ext cx="6537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2B3A0"/>
                </a:solidFill>
                <a:latin typeface="Consolas"/>
              </a:rPr>
              <a:t>xUnit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2540" y="2176272"/>
            <a:ext cx="881481" cy="310896"/>
          </a:xfrm>
          <a:prstGeom prst="roundRect">
            <a:avLst>
              <a:gd name="adj" fmla="val 50000"/>
            </a:avLst>
          </a:prstGeom>
          <a:solidFill>
            <a:srgbClr val="FDF5EA"/>
          </a:solidFill>
          <a:ln w="9525">
            <a:solidFill>
              <a:srgbClr val="F9DA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2540" y="2176272"/>
            <a:ext cx="88148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2A431"/>
                </a:solidFill>
                <a:latin typeface="Consolas"/>
              </a:rPr>
              <a:t>Coverlet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03750" y="2176272"/>
            <a:ext cx="1109167" cy="310896"/>
          </a:xfrm>
          <a:prstGeom prst="roundRect">
            <a:avLst>
              <a:gd name="adj" fmla="val 50000"/>
            </a:avLst>
          </a:prstGeom>
          <a:solidFill>
            <a:srgbClr val="F3F0FD"/>
          </a:solidFill>
          <a:ln w="9525">
            <a:solidFill>
              <a:srgbClr val="D0C4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3750" y="2176272"/>
            <a:ext cx="110916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6CF0"/>
                </a:solidFill>
                <a:latin typeface="Consolas"/>
              </a:rPr>
              <a:t>Stryker.NET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2615184"/>
            <a:ext cx="1564538" cy="310896"/>
          </a:xfrm>
          <a:prstGeom prst="roundRect">
            <a:avLst>
              <a:gd name="adj" fmla="val 50000"/>
            </a:avLst>
          </a:prstGeom>
          <a:solidFill>
            <a:srgbClr val="FDEFF3"/>
          </a:solidFill>
          <a:ln w="9525">
            <a:solidFill>
              <a:srgbClr val="F9B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2615184"/>
            <a:ext cx="156453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0608A"/>
                </a:solidFill>
                <a:latin typeface="Consolas"/>
              </a:rPr>
              <a:t>OpenAI / Together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97226" y="2615184"/>
            <a:ext cx="1412748" cy="310896"/>
          </a:xfrm>
          <a:prstGeom prst="roundRect">
            <a:avLst>
              <a:gd name="adj" fmla="val 50000"/>
            </a:avLst>
          </a:prstGeom>
          <a:solidFill>
            <a:srgbClr val="EAEFFB"/>
          </a:solidFill>
          <a:ln w="9525">
            <a:solidFill>
              <a:srgbClr val="ABB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97226" y="2615184"/>
            <a:ext cx="141274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F5FE0"/>
                </a:solidFill>
                <a:latin typeface="Consolas"/>
              </a:rPr>
              <a:t>Qdrant + SQLite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019702" y="2615184"/>
            <a:ext cx="1109167" cy="310896"/>
          </a:xfrm>
          <a:prstGeom prst="roundRect">
            <a:avLst>
              <a:gd name="adj" fmla="val 50000"/>
            </a:avLst>
          </a:prstGeom>
          <a:solidFill>
            <a:srgbClr val="E7F7F5"/>
          </a:solidFill>
          <a:ln w="9525">
            <a:solidFill>
              <a:srgbClr val="A0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19702" y="2615184"/>
            <a:ext cx="1109167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2B3A0"/>
                </a:solidFill>
                <a:latin typeface="Consolas"/>
              </a:rPr>
              <a:t>PEFT / LoRA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38597" y="2615184"/>
            <a:ext cx="1336852" cy="310896"/>
          </a:xfrm>
          <a:prstGeom prst="roundRect">
            <a:avLst>
              <a:gd name="adj" fmla="val 50000"/>
            </a:avLst>
          </a:prstGeom>
          <a:solidFill>
            <a:srgbClr val="FDF5EA"/>
          </a:solidFill>
          <a:ln w="9525">
            <a:solidFill>
              <a:srgbClr val="F9DA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38597" y="2615184"/>
            <a:ext cx="133685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2A431"/>
                </a:solidFill>
                <a:latin typeface="Consolas"/>
              </a:rPr>
              <a:t>GitHub 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337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2A44"/>
                </a:solidFill>
                <a:latin typeface="Segoe UI Semibold"/>
              </a:rPr>
              <a:t>Engineering highlights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703320"/>
            <a:ext cx="58521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900">
                <a:solidFill>
                  <a:srgbClr val="2F5FE0"/>
                </a:solidFill>
                <a:latin typeface="Segoe UI"/>
              </a:rPr>
              <a:t>▪  </a:t>
            </a:r>
            <a:r>
              <a:rPr sz="1250" b="1">
                <a:solidFill>
                  <a:srgbClr val="1F2A44"/>
                </a:solidFill>
                <a:latin typeface="Segoe UI"/>
              </a:rPr>
              <a:t>Swagger-style embeddable UI</a:t>
            </a:r>
            <a:r>
              <a:rPr sz="1250" b="0">
                <a:solidFill>
                  <a:srgbClr val="4A5670"/>
                </a:solidFill>
                <a:latin typeface="Segoe UI"/>
              </a:rPr>
              <a:t> — one NuGet package adds a /genai-tests page to any API.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900">
                <a:solidFill>
                  <a:srgbClr val="2F5FE0"/>
                </a:solidFill>
                <a:latin typeface="Segoe UI"/>
              </a:rPr>
              <a:t>▪  </a:t>
            </a:r>
            <a:r>
              <a:rPr sz="1250" b="1">
                <a:solidFill>
                  <a:srgbClr val="1F2A44"/>
                </a:solidFill>
                <a:latin typeface="Segoe UI"/>
              </a:rPr>
              <a:t>Clean architecture</a:t>
            </a:r>
            <a:r>
              <a:rPr sz="1250" b="0">
                <a:solidFill>
                  <a:srgbClr val="4A5670"/>
                </a:solidFill>
                <a:latin typeface="Segoe UI"/>
              </a:rPr>
              <a:t> — Api / Application / Domain / Infrastructure.</a:t>
            </a:r>
          </a:p>
          <a:p>
            <a:pPr>
              <a:lnSpc>
                <a:spcPct val="106000"/>
              </a:lnSpc>
              <a:spcAft>
                <a:spcPts val="900"/>
              </a:spcAft>
            </a:pPr>
            <a:r>
              <a:rPr sz="900">
                <a:solidFill>
                  <a:srgbClr val="2F5FE0"/>
                </a:solidFill>
                <a:latin typeface="Segoe UI"/>
              </a:rPr>
              <a:t>▪  </a:t>
            </a:r>
            <a:r>
              <a:rPr sz="1250" b="0">
                <a:solidFill>
                  <a:srgbClr val="4A5670"/>
                </a:solidFill>
                <a:latin typeface="Segoe UI"/>
              </a:rPr>
              <a:t>Real </a:t>
            </a:r>
            <a:r>
              <a:rPr sz="1250" b="1">
                <a:solidFill>
                  <a:srgbClr val="1F2A44"/>
                </a:solidFill>
                <a:latin typeface="Segoe UI"/>
              </a:rPr>
              <a:t>endpoint discovery</a:t>
            </a:r>
            <a:r>
              <a:rPr sz="1250" b="0">
                <a:solidFill>
                  <a:srgbClr val="4A5670"/>
                </a:solidFill>
                <a:latin typeface="Segoe UI"/>
              </a:rPr>
              <a:t> via static analysis; parallel, budgeted generation.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1874519"/>
            <a:ext cx="4050791" cy="69494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461504" y="1984248"/>
            <a:ext cx="475488" cy="475488"/>
          </a:xfrm>
          <a:prstGeom prst="ellipse">
            <a:avLst/>
          </a:prstGeom>
          <a:solidFill>
            <a:srgbClr val="DF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61504" y="1984248"/>
            <a:ext cx="475488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>
                <a:solidFill>
                  <a:srgbClr val="2F5FE0"/>
                </a:solidFill>
                <a:latin typeface="Segoe MDL2 Assets"/>
                <a:ea typeface="Segoe MDL2 Assets"/>
                <a:cs typeface="Segoe MDL2 Assets"/>
              </a:rPr>
              <a:t>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9871" y="1929384"/>
            <a:ext cx="30998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F2A44"/>
                </a:solidFill>
                <a:latin typeface="Segoe UI Semibold"/>
              </a:rPr>
              <a:t>Api layer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7C889F"/>
                </a:solidFill>
                <a:latin typeface="Segoe UI"/>
              </a:rPr>
              <a:t>endpoints · request binding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2551175"/>
            <a:ext cx="4050791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4CDE0"/>
                </a:solidFill>
                <a:latin typeface="Segoe UI"/>
              </a:rPr>
              <a:t>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0" y="2825496"/>
            <a:ext cx="4050791" cy="69494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461504" y="2935224"/>
            <a:ext cx="475488" cy="475488"/>
          </a:xfrm>
          <a:prstGeom prst="ellipse">
            <a:avLst/>
          </a:prstGeom>
          <a:solidFill>
            <a:srgbClr val="D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61504" y="2935224"/>
            <a:ext cx="475488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>
                <a:solidFill>
                  <a:srgbClr val="12B3A0"/>
                </a:solidFill>
                <a:latin typeface="Segoe MDL2 Assets"/>
                <a:ea typeface="Segoe MDL2 Assets"/>
                <a:cs typeface="Segoe MDL2 Assets"/>
              </a:rPr>
              <a:t>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9871" y="2880360"/>
            <a:ext cx="30998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F2A44"/>
                </a:solidFill>
                <a:latin typeface="Segoe UI Semibold"/>
              </a:rPr>
              <a:t>Application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7C889F"/>
                </a:solidFill>
                <a:latin typeface="Segoe UI"/>
              </a:rPr>
              <a:t>generation · run · mutation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3502151"/>
            <a:ext cx="4050791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4CDE0"/>
                </a:solidFill>
                <a:latin typeface="Segoe UI"/>
              </a:rPr>
              <a:t>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0" y="3776472"/>
            <a:ext cx="4050791" cy="69494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461504" y="3886200"/>
            <a:ext cx="475488" cy="475488"/>
          </a:xfrm>
          <a:prstGeom prst="ellipse">
            <a:avLst/>
          </a:prstGeom>
          <a:solidFill>
            <a:srgbClr val="ED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61504" y="3886200"/>
            <a:ext cx="475488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>
                <a:solidFill>
                  <a:srgbClr val="8A6CF0"/>
                </a:solidFill>
                <a:latin typeface="Segoe MDL2 Assets"/>
                <a:ea typeface="Segoe MDL2 Assets"/>
                <a:cs typeface="Segoe MDL2 Assets"/>
              </a:rPr>
              <a:t>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19871" y="3831335"/>
            <a:ext cx="30998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F2A44"/>
                </a:solidFill>
                <a:latin typeface="Segoe UI Semibold"/>
              </a:rPr>
              <a:t>Domain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7C889F"/>
                </a:solidFill>
                <a:latin typeface="Segoe UI"/>
              </a:rPr>
              <a:t>metrics · modes · rules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4453128"/>
            <a:ext cx="4050791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C4CDE0"/>
                </a:solidFill>
                <a:latin typeface="Segoe UI"/>
              </a:rPr>
              <a:t>▼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0" y="4727448"/>
            <a:ext cx="4050791" cy="694944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461504" y="4837176"/>
            <a:ext cx="475488" cy="475488"/>
          </a:xfrm>
          <a:prstGeom prst="ellipse">
            <a:avLst/>
          </a:prstGeom>
          <a:solidFill>
            <a:srgbClr val="FD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61504" y="4837176"/>
            <a:ext cx="475488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>
                <a:solidFill>
                  <a:srgbClr val="F2A431"/>
                </a:solidFill>
                <a:latin typeface="Segoe MDL2 Assets"/>
                <a:ea typeface="Segoe MDL2 Assets"/>
                <a:cs typeface="Segoe MDL2 Assets"/>
              </a:rPr>
              <a:t>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19871" y="4782312"/>
            <a:ext cx="30998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 i="0">
                <a:solidFill>
                  <a:srgbClr val="1F2A44"/>
                </a:solidFill>
                <a:latin typeface="Segoe UI Semibold"/>
              </a:rPr>
              <a:t>Infrastructure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0" i="0">
                <a:solidFill>
                  <a:srgbClr val="7C889F"/>
                </a:solidFill>
                <a:latin typeface="Segoe UI"/>
              </a:rPr>
              <a:t>engines · readers · scaffolding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Segoe UI"/>
              </a:rPr>
              <a:t>MS24901062  ·  Shanaka Madhusanka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5566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Consolas"/>
              </a:rPr>
              <a:t>22 / 33</a:t>
            </a:r>
          </a:p>
        </p:txBody>
      </p:sp>
      <p:sp>
        <p:nvSpPr>
          <p:cNvPr id="5" name="Oval 4"/>
          <p:cNvSpPr/>
          <p:nvPr/>
        </p:nvSpPr>
        <p:spPr>
          <a:xfrm>
            <a:off x="5684367" y="1828800"/>
            <a:ext cx="822960" cy="822960"/>
          </a:xfrm>
          <a:prstGeom prst="ellipse">
            <a:avLst/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84367" y="1828800"/>
            <a:ext cx="822960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700">
                <a:solidFill>
                  <a:srgbClr val="FFFFFF"/>
                </a:solidFill>
                <a:latin typeface="Segoe MDL2 Assets"/>
                <a:ea typeface="Segoe MDL2 Assets"/>
                <a:cs typeface="Segoe MDL2 Assets"/>
              </a:rPr>
              <a:t>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F5FE0"/>
                </a:solidFill>
                <a:latin typeface="Consolas"/>
              </a:rPr>
              <a:t>PART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03628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1F2A44"/>
                </a:solidFill>
                <a:latin typeface="Segoe UI Light"/>
              </a:rPr>
              <a:t>Evaluation &amp;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41367" y="4343400"/>
            <a:ext cx="1554480" cy="64008"/>
          </a:xfrm>
          <a:prstGeom prst="roundRect">
            <a:avLst>
              <a:gd name="adj" fmla="val 50000"/>
            </a:avLst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95847" y="4343400"/>
            <a:ext cx="1554480" cy="64008"/>
          </a:xfrm>
          <a:prstGeom prst="roundRect">
            <a:avLst>
              <a:gd name="adj" fmla="val 50000"/>
            </a:avLst>
          </a:prstGeom>
          <a:solidFill>
            <a:srgbClr val="12B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spd="med">
    <p:cover dir="l"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Segoe UI"/>
              </a:rPr>
              <a:t>MS24901062  ·  Shanaka Madhusanka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5566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Consolas"/>
              </a:rPr>
              <a:t>23 /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F5FE0"/>
                </a:solidFill>
                <a:latin typeface="Consolas"/>
              </a:rPr>
              <a:t>EVALUATION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768096"/>
            <a:ext cx="603504" cy="45720"/>
          </a:xfrm>
          <a:prstGeom prst="roundRect">
            <a:avLst>
              <a:gd name="adj" fmla="val 50000"/>
            </a:avLst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950976"/>
            <a:ext cx="566928" cy="566928"/>
          </a:xfrm>
          <a:prstGeom prst="ellipse">
            <a:avLst/>
          </a:prstGeom>
          <a:solidFill>
            <a:srgbClr val="E1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95097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>
                <a:solidFill>
                  <a:srgbClr val="2F5FE0"/>
                </a:solidFill>
                <a:latin typeface="Segoe MDL2 Assets"/>
                <a:ea typeface="Segoe MDL2 Assets"/>
                <a:cs typeface="Segoe MDL2 Assets"/>
              </a:rPr>
              <a:t>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950976"/>
            <a:ext cx="9692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2A44"/>
                </a:solidFill>
                <a:latin typeface="Segoe UI Light"/>
              </a:rPr>
              <a:t>Three measurement dimensions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965960"/>
            <a:ext cx="3331464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42416" y="2167128"/>
            <a:ext cx="512064" cy="512064"/>
          </a:xfrm>
          <a:prstGeom prst="ellipse">
            <a:avLst/>
          </a:prstGeom>
          <a:solidFill>
            <a:srgbClr val="DF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2167128"/>
            <a:ext cx="512064" cy="5120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2F5FE0"/>
                </a:solidFill>
                <a:latin typeface="Segoe MDL2 Assets"/>
                <a:ea typeface="Segoe MDL2 Assets"/>
                <a:cs typeface="Segoe MDL2 Assets"/>
              </a:rPr>
              <a:t>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0784" y="2167128"/>
            <a:ext cx="227075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F5FE0"/>
                </a:solidFill>
                <a:latin typeface="Segoe UI Semibold"/>
              </a:rPr>
              <a:t>Coverage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" y="2807208"/>
            <a:ext cx="2892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A5670"/>
                </a:solidFill>
                <a:latin typeface="Segoe UI"/>
              </a:rPr>
              <a:t>Line, branch &amp; endpoint coverage of the API under test.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28744" y="1965960"/>
            <a:ext cx="3331464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48200" y="2167128"/>
            <a:ext cx="512064" cy="512064"/>
          </a:xfrm>
          <a:prstGeom prst="ellipse">
            <a:avLst/>
          </a:prstGeom>
          <a:solidFill>
            <a:srgbClr val="D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8200" y="2167128"/>
            <a:ext cx="512064" cy="5120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12B3A0"/>
                </a:solidFill>
                <a:latin typeface="Segoe MDL2 Assets"/>
                <a:ea typeface="Segoe MDL2 Assets"/>
                <a:cs typeface="Segoe MDL2 Assets"/>
              </a:rPr>
              <a:t>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6567" y="2167128"/>
            <a:ext cx="227075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2B3A0"/>
                </a:solidFill>
                <a:latin typeface="Segoe UI Semibold"/>
              </a:rPr>
              <a:t>Mutation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8200" y="2807208"/>
            <a:ext cx="2892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A5670"/>
                </a:solidFill>
                <a:latin typeface="Segoe UI"/>
              </a:rPr>
              <a:t>Share of injected faults the suite kills (test strength).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4527" y="1965960"/>
            <a:ext cx="3331464" cy="1691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53983" y="2167128"/>
            <a:ext cx="512064" cy="512064"/>
          </a:xfrm>
          <a:prstGeom prst="ellipse">
            <a:avLst/>
          </a:prstGeom>
          <a:solidFill>
            <a:srgbClr val="FD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3983" y="2167128"/>
            <a:ext cx="512064" cy="5120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F2A431"/>
                </a:solidFill>
                <a:latin typeface="Segoe MDL2 Assets"/>
                <a:ea typeface="Segoe MDL2 Assets"/>
                <a:cs typeface="Segoe MDL2 Assets"/>
              </a:rPr>
              <a:t>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2352" y="2167128"/>
            <a:ext cx="227075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2A431"/>
                </a:solidFill>
                <a:latin typeface="Segoe UI Semibold"/>
              </a:rPr>
              <a:t>Execution validity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3983" y="2807208"/>
            <a:ext cx="28925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A5670"/>
                </a:solidFill>
                <a:latin typeface="Segoe UI"/>
              </a:rPr>
              <a:t>Share of generated tests that compile &amp; run correctly.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977639"/>
            <a:ext cx="10543032" cy="1188720"/>
          </a:xfrm>
          <a:prstGeom prst="roundRect">
            <a:avLst>
              <a:gd name="adj" fmla="val 6000"/>
            </a:avLst>
          </a:prstGeom>
          <a:solidFill>
            <a:srgbClr val="F5F7FC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1560" y="4224528"/>
            <a:ext cx="548640" cy="548640"/>
          </a:xfrm>
          <a:prstGeom prst="ellipse">
            <a:avLst/>
          </a:prstGeom>
          <a:solidFill>
            <a:srgbClr val="DF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224528"/>
            <a:ext cx="548640" cy="5486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>
                <a:solidFill>
                  <a:srgbClr val="2F5FE0"/>
                </a:solidFill>
                <a:latin typeface="Segoe MDL2 Assets"/>
                <a:ea typeface="Segoe MDL2 Assets"/>
                <a:cs typeface="Segoe MDL2 Assets"/>
              </a:rPr>
              <a:t>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3977639"/>
            <a:ext cx="93268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F2A44"/>
                </a:solidFill>
                <a:latin typeface="Segoe UI"/>
              </a:rPr>
              <a:t>All five configurations run on the same backend &amp; BA document, under identical conditions — so differences reflect the architecture, not the inputs.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Segoe UI"/>
              </a:rPr>
              <a:t>MS24901062  ·  Shanaka Madhusanka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5566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Consolas"/>
              </a:rPr>
              <a:t>24 /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F5FE0"/>
                </a:solidFill>
                <a:latin typeface="Consolas"/>
              </a:rPr>
              <a:t>RESULTS · TABLE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768096"/>
            <a:ext cx="603504" cy="45720"/>
          </a:xfrm>
          <a:prstGeom prst="roundRect">
            <a:avLst>
              <a:gd name="adj" fmla="val 50000"/>
            </a:avLst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950976"/>
            <a:ext cx="566928" cy="566928"/>
          </a:xfrm>
          <a:prstGeom prst="ellipse">
            <a:avLst/>
          </a:prstGeom>
          <a:solidFill>
            <a:srgbClr val="E1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95097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>
                <a:solidFill>
                  <a:srgbClr val="2F5FE0"/>
                </a:solidFill>
                <a:latin typeface="Segoe MDL2 Assets"/>
                <a:ea typeface="Segoe MDL2 Assets"/>
                <a:cs typeface="Segoe MDL2 Assets"/>
              </a:rPr>
              <a:t>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950976"/>
            <a:ext cx="9692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2A44"/>
                </a:solidFill>
                <a:latin typeface="Segoe UI Light"/>
              </a:rPr>
              <a:t>Coverage comparison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2011680"/>
          <a:ext cx="4937760" cy="25237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83080"/>
                <a:gridCol w="1051560"/>
                <a:gridCol w="1051560"/>
                <a:gridCol w="1051560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Config</a:t>
                      </a:r>
                    </a:p>
                  </a:txBody>
                  <a:tcPr anchor="ctr" marL="109728">
                    <a:solidFill>
                      <a:srgbClr val="1721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Line</a:t>
                      </a:r>
                    </a:p>
                  </a:txBody>
                  <a:tcPr anchor="ctr" marL="109728">
                    <a:solidFill>
                      <a:srgbClr val="1721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Branch</a:t>
                      </a:r>
                    </a:p>
                  </a:txBody>
                  <a:tcPr anchor="ctr" marL="109728">
                    <a:solidFill>
                      <a:srgbClr val="1721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Endpoint</a:t>
                      </a:r>
                    </a:p>
                  </a:txBody>
                  <a:tcPr anchor="ctr" marL="109728">
                    <a:solidFill>
                      <a:srgbClr val="17214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44"/>
                          </a:solidFill>
                          <a:latin typeface="Consolas"/>
                        </a:rPr>
                        <a:t>LLM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71%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63%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68%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44"/>
                          </a:solidFill>
                          <a:latin typeface="Consolas"/>
                        </a:rPr>
                        <a:t>RAG</a:t>
                      </a:r>
                    </a:p>
                  </a:txBody>
                  <a:tcPr anchor="ctr" marL="109728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79%</a:t>
                      </a:r>
                    </a:p>
                  </a:txBody>
                  <a:tcPr anchor="ctr" marL="109728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70%</a:t>
                      </a:r>
                    </a:p>
                  </a:txBody>
                  <a:tcPr anchor="ctr" marL="109728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74%</a:t>
                      </a:r>
                    </a:p>
                  </a:txBody>
                  <a:tcPr anchor="ctr" marL="109728">
                    <a:solidFill>
                      <a:srgbClr val="FAFBF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44"/>
                          </a:solidFill>
                          <a:latin typeface="Consolas"/>
                        </a:rPr>
                        <a:t>Hybrid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86%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82%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88%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44"/>
                          </a:solidFill>
                          <a:latin typeface="Consolas"/>
                        </a:rPr>
                        <a:t>LoRA</a:t>
                      </a:r>
                    </a:p>
                  </a:txBody>
                  <a:tcPr anchor="ctr" marL="109728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81%</a:t>
                      </a:r>
                    </a:p>
                  </a:txBody>
                  <a:tcPr anchor="ctr" marL="109728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75%</a:t>
                      </a:r>
                    </a:p>
                  </a:txBody>
                  <a:tcPr anchor="ctr" marL="109728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80%</a:t>
                      </a:r>
                    </a:p>
                  </a:txBody>
                  <a:tcPr anchor="ctr" marL="109728">
                    <a:solidFill>
                      <a:srgbClr val="FAFBF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2B3A0"/>
                          </a:solidFill>
                          <a:latin typeface="Consolas"/>
                        </a:rPr>
                        <a:t>LoRA + RAG</a:t>
                      </a:r>
                    </a:p>
                  </a:txBody>
                  <a:tcPr anchor="ctr" marL="109728">
                    <a:solidFill>
                      <a:srgbClr val="EA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88%</a:t>
                      </a:r>
                    </a:p>
                  </a:txBody>
                  <a:tcPr anchor="ctr" marL="109728">
                    <a:solidFill>
                      <a:srgbClr val="EA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84%</a:t>
                      </a:r>
                    </a:p>
                  </a:txBody>
                  <a:tcPr anchor="ctr" marL="109728">
                    <a:solidFill>
                      <a:srgbClr val="EA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91%</a:t>
                      </a:r>
                    </a:p>
                  </a:txBody>
                  <a:tcPr anchor="ctr" marL="109728">
                    <a:solidFill>
                      <a:srgbClr val="EAFA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126480" y="1874519"/>
          <a:ext cx="521208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22960" y="58064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7C889F"/>
                </a:solidFill>
                <a:latin typeface="Segoe UI"/>
              </a:rPr>
              <a:t>Coverage rises steadily LLM → LoRA+RAG; retrieval + adaptation compound.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Segoe UI"/>
              </a:rPr>
              <a:t>MS24901062  ·  Shanaka Madhusanka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5566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Consolas"/>
              </a:rPr>
              <a:t>25 /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F5FE0"/>
                </a:solidFill>
                <a:latin typeface="Consolas"/>
              </a:rPr>
              <a:t>RESULTS · TABLES 7 &amp;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768096"/>
            <a:ext cx="603504" cy="45720"/>
          </a:xfrm>
          <a:prstGeom prst="roundRect">
            <a:avLst>
              <a:gd name="adj" fmla="val 50000"/>
            </a:avLst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950976"/>
            <a:ext cx="566928" cy="566928"/>
          </a:xfrm>
          <a:prstGeom prst="ellipse">
            <a:avLst/>
          </a:prstGeom>
          <a:solidFill>
            <a:srgbClr val="E1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95097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>
                <a:solidFill>
                  <a:srgbClr val="2F5FE0"/>
                </a:solidFill>
                <a:latin typeface="Segoe MDL2 Assets"/>
                <a:ea typeface="Segoe MDL2 Assets"/>
                <a:cs typeface="Segoe MDL2 Assets"/>
              </a:rPr>
              <a:t>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950976"/>
            <a:ext cx="9692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2A44"/>
                </a:solidFill>
                <a:latin typeface="Segoe UI Light"/>
              </a:rPr>
              <a:t>Mutation detection &amp; execution validity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74519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7C889F"/>
                </a:solidFill>
                <a:latin typeface="Segoe UI Semibold"/>
              </a:rPr>
              <a:t>Mutation detection rate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822960" y="2194560"/>
          <a:ext cx="5120640" cy="2468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63640" y="1874519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7C889F"/>
                </a:solidFill>
                <a:latin typeface="Segoe UI Semibold"/>
              </a:rPr>
              <a:t>Execution validity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263640" y="2194560"/>
          <a:ext cx="5120640" cy="24688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822960" y="4892040"/>
            <a:ext cx="333756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253996" y="5038344"/>
            <a:ext cx="475488" cy="475488"/>
          </a:xfrm>
          <a:prstGeom prst="ellipse">
            <a:avLst/>
          </a:prstGeom>
          <a:solidFill>
            <a:srgbClr val="DF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253996" y="5038344"/>
            <a:ext cx="475488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>
                <a:solidFill>
                  <a:srgbClr val="2F5FE0"/>
                </a:solidFill>
                <a:latin typeface="Segoe MDL2 Assets"/>
                <a:ea typeface="Segoe MDL2 Assets"/>
                <a:cs typeface="Segoe MDL2 Assets"/>
              </a:rPr>
              <a:t>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458968"/>
            <a:ext cx="3337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F5FE0"/>
                </a:solidFill>
                <a:latin typeface="Segoe UI Light"/>
              </a:rPr>
              <a:t>+22%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5669279"/>
            <a:ext cx="31181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7C889F"/>
                </a:solidFill>
                <a:latin typeface="Segoe UI"/>
              </a:rPr>
              <a:t>MUTATION: LLM → LORA+RAG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5696" y="4892040"/>
            <a:ext cx="333756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6732" y="5038344"/>
            <a:ext cx="475488" cy="475488"/>
          </a:xfrm>
          <a:prstGeom prst="ellipse">
            <a:avLst/>
          </a:prstGeom>
          <a:solidFill>
            <a:srgbClr val="D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6732" y="5038344"/>
            <a:ext cx="475488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>
                <a:solidFill>
                  <a:srgbClr val="12B3A0"/>
                </a:solidFill>
                <a:latin typeface="Segoe MDL2 Assets"/>
                <a:ea typeface="Segoe MDL2 Assets"/>
                <a:cs typeface="Segoe MDL2 Assets"/>
              </a:rPr>
              <a:t>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5696" y="5458968"/>
            <a:ext cx="3337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2B3A0"/>
                </a:solidFill>
                <a:latin typeface="Segoe UI Light"/>
              </a:rPr>
              <a:t>97%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35424" y="5669279"/>
            <a:ext cx="31181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7C889F"/>
                </a:solidFill>
                <a:latin typeface="Segoe UI"/>
              </a:rPr>
              <a:t>BEST EXECUTION VALIDITY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28431" y="4892040"/>
            <a:ext cx="333756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59467" y="5038344"/>
            <a:ext cx="475488" cy="475488"/>
          </a:xfrm>
          <a:prstGeom prst="ellipse">
            <a:avLst/>
          </a:prstGeom>
          <a:solidFill>
            <a:srgbClr val="FD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59467" y="5038344"/>
            <a:ext cx="475488" cy="47548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500">
                <a:solidFill>
                  <a:srgbClr val="F2A431"/>
                </a:solidFill>
                <a:latin typeface="Segoe MDL2 Assets"/>
                <a:ea typeface="Segoe MDL2 Assets"/>
                <a:cs typeface="Segoe MDL2 Assets"/>
              </a:rPr>
              <a:t>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5458968"/>
            <a:ext cx="3337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2A431"/>
                </a:solidFill>
                <a:latin typeface="Segoe UI Ligh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59" y="5669279"/>
            <a:ext cx="311810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7C889F"/>
                </a:solidFill>
                <a:latin typeface="Segoe UI"/>
              </a:rPr>
              <a:t>CONFIGS · IDENTICAL CONDITIONS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Segoe UI"/>
              </a:rPr>
              <a:t>MS24901062  ·  Shanaka Madhusanka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5566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Consolas"/>
              </a:rPr>
              <a:t>26 /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F5FE0"/>
                </a:solidFill>
                <a:latin typeface="Consolas"/>
              </a:rPr>
              <a:t>KEY FINDINGS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768096"/>
            <a:ext cx="603504" cy="45720"/>
          </a:xfrm>
          <a:prstGeom prst="roundRect">
            <a:avLst>
              <a:gd name="adj" fmla="val 50000"/>
            </a:avLst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950976"/>
            <a:ext cx="566928" cy="566928"/>
          </a:xfrm>
          <a:prstGeom prst="ellipse">
            <a:avLst/>
          </a:prstGeom>
          <a:solidFill>
            <a:srgbClr val="E1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95097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>
                <a:solidFill>
                  <a:srgbClr val="2F5FE0"/>
                </a:solidFill>
                <a:latin typeface="Segoe MDL2 Assets"/>
                <a:ea typeface="Segoe MDL2 Assets"/>
                <a:cs typeface="Segoe MDL2 Assets"/>
              </a:rPr>
              <a:t>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950976"/>
            <a:ext cx="9692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2A44"/>
                </a:solidFill>
                <a:latin typeface="Segoe UI Light"/>
              </a:rPr>
              <a:t>What we learned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920240"/>
            <a:ext cx="5134355" cy="14904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42416" y="2121408"/>
            <a:ext cx="512064" cy="512064"/>
          </a:xfrm>
          <a:prstGeom prst="ellipse">
            <a:avLst/>
          </a:prstGeom>
          <a:solidFill>
            <a:srgbClr val="DF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2121408"/>
            <a:ext cx="512064" cy="5120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2F5FE0"/>
                </a:solidFill>
                <a:latin typeface="Segoe MDL2 Assets"/>
                <a:ea typeface="Segoe MDL2 Assets"/>
                <a:cs typeface="Segoe MDL2 Assets"/>
              </a:rPr>
              <a:t>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0784" y="2121408"/>
            <a:ext cx="407365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F5FE0"/>
                </a:solidFill>
                <a:latin typeface="Segoe UI Semibold"/>
              </a:rPr>
              <a:t>Context wins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" y="2761488"/>
            <a:ext cx="4695444" cy="530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A5670"/>
                </a:solidFill>
                <a:latin typeface="Segoe UI"/>
              </a:rPr>
              <a:t>RAG grounds tests in real documentation → higher relevance &amp; coverage than standalone LLM.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1920240"/>
            <a:ext cx="5134355" cy="14904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1092" y="2121408"/>
            <a:ext cx="512064" cy="512064"/>
          </a:xfrm>
          <a:prstGeom prst="ellipse">
            <a:avLst/>
          </a:prstGeom>
          <a:solidFill>
            <a:srgbClr val="D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1092" y="2121408"/>
            <a:ext cx="512064" cy="5120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12B3A0"/>
                </a:solidFill>
                <a:latin typeface="Segoe MDL2 Assets"/>
                <a:ea typeface="Segoe MDL2 Assets"/>
                <a:cs typeface="Segoe MDL2 Assets"/>
              </a:rPr>
              <a:t>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9460" y="2121408"/>
            <a:ext cx="407365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2B3A0"/>
                </a:solidFill>
                <a:latin typeface="Segoe UI Semibold"/>
              </a:rPr>
              <a:t>Hybrid = reliability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1092" y="2761488"/>
            <a:ext cx="4695444" cy="530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A5670"/>
                </a:solidFill>
                <a:latin typeface="Segoe UI"/>
              </a:rPr>
              <a:t>Rule-based validation + static analysis lift execution validity to 96%.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630168"/>
            <a:ext cx="5134355" cy="14904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42416" y="3831335"/>
            <a:ext cx="512064" cy="512064"/>
          </a:xfrm>
          <a:prstGeom prst="ellipse">
            <a:avLst/>
          </a:prstGeom>
          <a:solidFill>
            <a:srgbClr val="ED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6" y="3831335"/>
            <a:ext cx="512064" cy="5120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8A6CF0"/>
                </a:solidFill>
                <a:latin typeface="Segoe MDL2 Assets"/>
                <a:ea typeface="Segoe MDL2 Assets"/>
                <a:cs typeface="Segoe MDL2 Assets"/>
              </a:rPr>
              <a:t>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0784" y="3831335"/>
            <a:ext cx="407365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A6CF0"/>
                </a:solidFill>
                <a:latin typeface="Segoe UI Semibold"/>
              </a:rPr>
              <a:t>Adaptation helps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" y="4471416"/>
            <a:ext cx="4695444" cy="530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A5670"/>
                </a:solidFill>
                <a:latin typeface="Segoe UI"/>
              </a:rPr>
              <a:t>LoRA improves domain understanding; with RAG it tops every metric.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1636" y="3630168"/>
            <a:ext cx="5134355" cy="14904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51092" y="3831335"/>
            <a:ext cx="512064" cy="512064"/>
          </a:xfrm>
          <a:prstGeom prst="ellipse">
            <a:avLst/>
          </a:prstGeom>
          <a:solidFill>
            <a:srgbClr val="FD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1092" y="3831335"/>
            <a:ext cx="512064" cy="5120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F2A431"/>
                </a:solidFill>
                <a:latin typeface="Segoe MDL2 Assets"/>
                <a:ea typeface="Segoe MDL2 Assets"/>
                <a:cs typeface="Segoe MDL2 Assets"/>
              </a:rPr>
              <a:t>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9460" y="3831335"/>
            <a:ext cx="407365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2A431"/>
                </a:solidFill>
                <a:latin typeface="Segoe UI Semibold"/>
              </a:rPr>
              <a:t>Scale &amp; speed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1092" y="4471416"/>
            <a:ext cx="4695444" cy="530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A5670"/>
                </a:solidFill>
                <a:latin typeface="Segoe UI"/>
              </a:rPr>
              <a:t>AI explores far more input/boundary scenarios automatically than manual design.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Segoe UI"/>
              </a:rPr>
              <a:t>MS24901062  ·  Shanaka Madhusanka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5566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Consolas"/>
              </a:rPr>
              <a:t>27 / 33</a:t>
            </a:r>
          </a:p>
        </p:txBody>
      </p:sp>
      <p:sp>
        <p:nvSpPr>
          <p:cNvPr id="5" name="Oval 4"/>
          <p:cNvSpPr/>
          <p:nvPr/>
        </p:nvSpPr>
        <p:spPr>
          <a:xfrm>
            <a:off x="5684367" y="1828800"/>
            <a:ext cx="822960" cy="822960"/>
          </a:xfrm>
          <a:prstGeom prst="ellipse">
            <a:avLst/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84367" y="1828800"/>
            <a:ext cx="822960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700">
                <a:solidFill>
                  <a:srgbClr val="FFFFFF"/>
                </a:solidFill>
                <a:latin typeface="Segoe MDL2 Assets"/>
                <a:ea typeface="Segoe MDL2 Assets"/>
                <a:cs typeface="Segoe MDL2 Assets"/>
              </a:rPr>
              <a:t>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F5FE0"/>
                </a:solidFill>
                <a:latin typeface="Consolas"/>
              </a:rPr>
              <a:t>PART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03628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1F2A44"/>
                </a:solidFill>
                <a:latin typeface="Segoe UI Light"/>
              </a:rPr>
              <a:t>Limitations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41367" y="4343400"/>
            <a:ext cx="1554480" cy="64008"/>
          </a:xfrm>
          <a:prstGeom prst="roundRect">
            <a:avLst>
              <a:gd name="adj" fmla="val 50000"/>
            </a:avLst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95847" y="4343400"/>
            <a:ext cx="1554480" cy="64008"/>
          </a:xfrm>
          <a:prstGeom prst="roundRect">
            <a:avLst>
              <a:gd name="adj" fmla="val 50000"/>
            </a:avLst>
          </a:prstGeom>
          <a:solidFill>
            <a:srgbClr val="12B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spd="med">
    <p:cover dir="l"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Segoe UI"/>
              </a:rPr>
              <a:t>MS24901062  ·  Shanaka Madhusanka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5566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Consolas"/>
              </a:rPr>
              <a:t>28 /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F5FE0"/>
                </a:solidFill>
                <a:latin typeface="Consolas"/>
              </a:rPr>
              <a:t>SCOPE &amp; BOUNDARIES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768096"/>
            <a:ext cx="603504" cy="45720"/>
          </a:xfrm>
          <a:prstGeom prst="roundRect">
            <a:avLst>
              <a:gd name="adj" fmla="val 50000"/>
            </a:avLst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950976"/>
            <a:ext cx="566928" cy="566928"/>
          </a:xfrm>
          <a:prstGeom prst="ellipse">
            <a:avLst/>
          </a:prstGeom>
          <a:solidFill>
            <a:srgbClr val="FD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95097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>
                <a:solidFill>
                  <a:srgbClr val="F2A431"/>
                </a:solidFill>
                <a:latin typeface="Segoe MDL2 Assets"/>
                <a:ea typeface="Segoe MDL2 Assets"/>
                <a:cs typeface="Segoe MDL2 Assets"/>
              </a:rPr>
              <a:t>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950976"/>
            <a:ext cx="9692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2A44"/>
                </a:solidFill>
                <a:latin typeface="Segoe UI Light"/>
              </a:rPr>
              <a:t>Honest boundaries of the study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920240"/>
            <a:ext cx="5134355" cy="14904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42416" y="2121408"/>
            <a:ext cx="512064" cy="512064"/>
          </a:xfrm>
          <a:prstGeom prst="ellipse">
            <a:avLst/>
          </a:prstGeom>
          <a:solidFill>
            <a:srgbClr val="DF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2121408"/>
            <a:ext cx="512064" cy="5120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2F5FE0"/>
                </a:solidFill>
                <a:latin typeface="Segoe MDL2 Assets"/>
                <a:ea typeface="Segoe MDL2 Assets"/>
                <a:cs typeface="Segoe MDL2 Assets"/>
              </a:rPr>
              <a:t>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0784" y="2121408"/>
            <a:ext cx="407365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F5FE0"/>
                </a:solidFill>
                <a:latin typeface="Segoe UI Semibold"/>
              </a:rPr>
              <a:t>01 · Research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" y="2761488"/>
            <a:ext cx="4695444" cy="530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A5670"/>
                </a:solidFill>
                <a:latin typeface="Segoe UI"/>
              </a:rPr>
              <a:t>Prototype scale vs. large distributed enterprises with hundreds of services.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1636" y="1920240"/>
            <a:ext cx="5134355" cy="14904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51092" y="2121408"/>
            <a:ext cx="512064" cy="512064"/>
          </a:xfrm>
          <a:prstGeom prst="ellipse">
            <a:avLst/>
          </a:prstGeom>
          <a:solidFill>
            <a:srgbClr val="D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1092" y="2121408"/>
            <a:ext cx="512064" cy="5120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12B3A0"/>
                </a:solidFill>
                <a:latin typeface="Segoe MDL2 Assets"/>
                <a:ea typeface="Segoe MDL2 Assets"/>
                <a:cs typeface="Segoe MDL2 Assets"/>
              </a:rPr>
              <a:t>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9460" y="2121408"/>
            <a:ext cx="407365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2B3A0"/>
                </a:solidFill>
                <a:latin typeface="Segoe UI Semibold"/>
              </a:rPr>
              <a:t>02 · Input dependency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1092" y="2761488"/>
            <a:ext cx="4695444" cy="530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A5670"/>
                </a:solidFill>
                <a:latin typeface="Segoe UI"/>
              </a:rPr>
              <a:t>Output quality bound by completeness &amp; clarity of requirement artefacts.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630168"/>
            <a:ext cx="5134355" cy="14904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42416" y="3831335"/>
            <a:ext cx="512064" cy="512064"/>
          </a:xfrm>
          <a:prstGeom prst="ellipse">
            <a:avLst/>
          </a:prstGeom>
          <a:solidFill>
            <a:srgbClr val="ED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6" y="3831335"/>
            <a:ext cx="512064" cy="5120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8A6CF0"/>
                </a:solidFill>
                <a:latin typeface="Segoe MDL2 Assets"/>
                <a:ea typeface="Segoe MDL2 Assets"/>
                <a:cs typeface="Segoe MDL2 Assets"/>
              </a:rPr>
              <a:t>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0784" y="3831335"/>
            <a:ext cx="407365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A6CF0"/>
                </a:solidFill>
                <a:latin typeface="Segoe UI Semibold"/>
              </a:rPr>
              <a:t>03 · Model variability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" y="4471416"/>
            <a:ext cx="4695444" cy="530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A5670"/>
                </a:solidFill>
                <a:latin typeface="Segoe UI"/>
              </a:rPr>
              <a:t>Generative non-determinism; compute cost of LoRA &amp; Hybrid configurations.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1636" y="3630168"/>
            <a:ext cx="5134355" cy="14904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51092" y="3831335"/>
            <a:ext cx="512064" cy="512064"/>
          </a:xfrm>
          <a:prstGeom prst="ellipse">
            <a:avLst/>
          </a:prstGeom>
          <a:solidFill>
            <a:srgbClr val="FD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1092" y="3831335"/>
            <a:ext cx="512064" cy="5120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F2A431"/>
                </a:solidFill>
                <a:latin typeface="Segoe MDL2 Assets"/>
                <a:ea typeface="Segoe MDL2 Assets"/>
                <a:cs typeface="Segoe MDL2 Assets"/>
              </a:rPr>
              <a:t>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9460" y="3831335"/>
            <a:ext cx="4073651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2A431"/>
                </a:solidFill>
                <a:latin typeface="Segoe UI Semibold"/>
              </a:rPr>
              <a:t>04 · Testing 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1092" y="4471416"/>
            <a:ext cx="4695444" cy="530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A5670"/>
                </a:solidFill>
                <a:latin typeface="Segoe UI"/>
              </a:rPr>
              <a:t>Backend API &amp; integration testing — not UI, performance or security.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Segoe UI"/>
              </a:rPr>
              <a:t>MS24901062  ·  Shanaka Madhusanka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5566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Consolas"/>
              </a:rPr>
              <a:t>29 /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F5FE0"/>
                </a:solidFill>
                <a:latin typeface="Consolas"/>
              </a:rPr>
              <a:t>LIMITATION PER CONFIGURATION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768096"/>
            <a:ext cx="603504" cy="45720"/>
          </a:xfrm>
          <a:prstGeom prst="roundRect">
            <a:avLst>
              <a:gd name="adj" fmla="val 50000"/>
            </a:avLst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950976"/>
            <a:ext cx="566928" cy="566928"/>
          </a:xfrm>
          <a:prstGeom prst="ellipse">
            <a:avLst/>
          </a:prstGeom>
          <a:solidFill>
            <a:srgbClr val="FDF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95097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>
                <a:solidFill>
                  <a:srgbClr val="F2A431"/>
                </a:solidFill>
                <a:latin typeface="Segoe MDL2 Assets"/>
                <a:ea typeface="Segoe MDL2 Assets"/>
                <a:cs typeface="Segoe MDL2 Assets"/>
              </a:rPr>
              <a:t>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950976"/>
            <a:ext cx="9692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2A44"/>
                </a:solidFill>
                <a:latin typeface="Segoe UI Light"/>
              </a:rPr>
              <a:t>Where each mode trades off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22960" y="1874519"/>
          <a:ext cx="10543032" cy="362102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20"/>
                <a:gridCol w="6035040"/>
                <a:gridCol w="2404872"/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Configuration</a:t>
                      </a:r>
                    </a:p>
                  </a:txBody>
                  <a:tcPr anchor="ctr" marL="109728">
                    <a:solidFill>
                      <a:srgbClr val="1721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Key limitation</a:t>
                      </a:r>
                    </a:p>
                  </a:txBody>
                  <a:tcPr anchor="ctr" marL="109728">
                    <a:solidFill>
                      <a:srgbClr val="1721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Cost / complexity</a:t>
                      </a:r>
                    </a:p>
                  </a:txBody>
                  <a:tcPr anchor="ctr" marL="109728">
                    <a:solidFill>
                      <a:srgbClr val="17214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44"/>
                          </a:solidFill>
                          <a:latin typeface="Consolas"/>
                        </a:rPr>
                        <a:t>LLM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No system context · hallucinated endpoints · shallow tests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Low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44"/>
                          </a:solidFill>
                          <a:latin typeface="Consolas"/>
                        </a:rPr>
                        <a:t>RAG</a:t>
                      </a:r>
                    </a:p>
                  </a:txBody>
                  <a:tcPr anchor="ctr" marL="109728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Sensitive to chunking &amp; retrieval quality · added latency</a:t>
                      </a:r>
                    </a:p>
                  </a:txBody>
                  <a:tcPr anchor="ctr" marL="109728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Low–Medium</a:t>
                      </a:r>
                    </a:p>
                  </a:txBody>
                  <a:tcPr anchor="ctr" marL="109728">
                    <a:solidFill>
                      <a:srgbClr val="FAFBF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44"/>
                          </a:solidFill>
                          <a:latin typeface="Consolas"/>
                        </a:rPr>
                        <a:t>Hybrid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More components → integration complexity · rule upkeep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Medium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44"/>
                          </a:solidFill>
                          <a:latin typeface="Consolas"/>
                        </a:rPr>
                        <a:t>LoRA</a:t>
                      </a:r>
                    </a:p>
                  </a:txBody>
                  <a:tcPr anchor="ctr" marL="109728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Needs training data + GPU · overfitting / drift risk</a:t>
                      </a:r>
                    </a:p>
                  </a:txBody>
                  <a:tcPr anchor="ctr" marL="109728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anchor="ctr" marL="109728">
                    <a:solidFill>
                      <a:srgbClr val="FAFBFD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44"/>
                          </a:solidFill>
                          <a:latin typeface="Consolas"/>
                        </a:rPr>
                        <a:t>LoRA + RAG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Highest compute · hardest to reproduce &amp; tune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High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22960" y="56692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7C889F"/>
                </a:solidFill>
                <a:latin typeface="Segoe UI"/>
              </a:rPr>
              <a:t>Stronger results cost more: accuracy climbs with RAG → Hybrid → LoRA, and so does compute &amp; complexity.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Segoe UI"/>
              </a:rPr>
              <a:t>MS24901062  ·  Shanaka Madhusanka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5566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Consolas"/>
              </a:rPr>
              <a:t>30 /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F5FE0"/>
                </a:solidFill>
                <a:latin typeface="Consolas"/>
              </a:rPr>
              <a:t>FUTURE IMPROVEMENTS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768096"/>
            <a:ext cx="603504" cy="45720"/>
          </a:xfrm>
          <a:prstGeom prst="roundRect">
            <a:avLst>
              <a:gd name="adj" fmla="val 50000"/>
            </a:avLst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950976"/>
            <a:ext cx="566928" cy="566928"/>
          </a:xfrm>
          <a:prstGeom prst="ellipse">
            <a:avLst/>
          </a:prstGeom>
          <a:solidFill>
            <a:srgbClr val="E1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95097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>
                <a:solidFill>
                  <a:srgbClr val="2F5FE0"/>
                </a:solidFill>
                <a:latin typeface="Segoe MDL2 Assets"/>
                <a:ea typeface="Segoe MDL2 Assets"/>
                <a:cs typeface="Segoe MDL2 Assets"/>
              </a:rPr>
              <a:t>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950976"/>
            <a:ext cx="9692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2A44"/>
                </a:solidFill>
                <a:latin typeface="Segoe UI Light"/>
              </a:rPr>
              <a:t>Where this work goes next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920240"/>
            <a:ext cx="3331464" cy="14904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42416" y="2121408"/>
            <a:ext cx="512064" cy="512064"/>
          </a:xfrm>
          <a:prstGeom prst="ellipse">
            <a:avLst/>
          </a:prstGeom>
          <a:solidFill>
            <a:srgbClr val="DF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6" y="2121408"/>
            <a:ext cx="512064" cy="5120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2F5FE0"/>
                </a:solidFill>
                <a:latin typeface="Segoe MDL2 Assets"/>
                <a:ea typeface="Segoe MDL2 Assets"/>
                <a:cs typeface="Segoe MDL2 Assets"/>
              </a:rPr>
              <a:t>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0784" y="2121408"/>
            <a:ext cx="227075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F5FE0"/>
                </a:solidFill>
                <a:latin typeface="Segoe UI Semibold"/>
              </a:rPr>
              <a:t>Multi-agent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" y="2761488"/>
            <a:ext cx="2892552" cy="530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A5670"/>
                </a:solidFill>
                <a:latin typeface="Segoe UI"/>
              </a:rPr>
              <a:t>Generator + self-repair agents that auto-fix failing tests in a loop.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28744" y="1920240"/>
            <a:ext cx="3331464" cy="14904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48200" y="2121408"/>
            <a:ext cx="512064" cy="512064"/>
          </a:xfrm>
          <a:prstGeom prst="ellipse">
            <a:avLst/>
          </a:prstGeom>
          <a:solidFill>
            <a:srgbClr val="D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8200" y="2121408"/>
            <a:ext cx="512064" cy="5120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12B3A0"/>
                </a:solidFill>
                <a:latin typeface="Segoe MDL2 Assets"/>
                <a:ea typeface="Segoe MDL2 Assets"/>
                <a:cs typeface="Segoe MDL2 Assets"/>
              </a:rPr>
              <a:t>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6567" y="2121408"/>
            <a:ext cx="227075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2B3A0"/>
                </a:solidFill>
                <a:latin typeface="Segoe UI Semibold"/>
              </a:rPr>
              <a:t>Enterprise-scale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8200" y="2761488"/>
            <a:ext cx="2892552" cy="530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A5670"/>
                </a:solidFill>
                <a:latin typeface="Segoe UI"/>
              </a:rPr>
              <a:t>Validate across large, multi-microservice distributed systems.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4527" y="1920240"/>
            <a:ext cx="3331464" cy="14904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53983" y="2121408"/>
            <a:ext cx="512064" cy="512064"/>
          </a:xfrm>
          <a:prstGeom prst="ellipse">
            <a:avLst/>
          </a:prstGeom>
          <a:solidFill>
            <a:srgbClr val="ED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3983" y="2121408"/>
            <a:ext cx="512064" cy="5120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8A6CF0"/>
                </a:solidFill>
                <a:latin typeface="Segoe MDL2 Assets"/>
                <a:ea typeface="Segoe MDL2 Assets"/>
                <a:cs typeface="Segoe MDL2 Assets"/>
              </a:rPr>
              <a:t>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2352" y="2121408"/>
            <a:ext cx="227075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A6CF0"/>
                </a:solidFill>
                <a:latin typeface="Segoe UI Semibold"/>
              </a:rPr>
              <a:t>Domain-specific 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3983" y="2761488"/>
            <a:ext cx="2892552" cy="530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A5670"/>
                </a:solidFill>
                <a:latin typeface="Segoe UI"/>
              </a:rPr>
              <a:t>Continuous fine-tuning from CI feedback &amp; organisation test history.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630168"/>
            <a:ext cx="3331464" cy="14904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2416" y="3831335"/>
            <a:ext cx="512064" cy="512064"/>
          </a:xfrm>
          <a:prstGeom prst="ellipse">
            <a:avLst/>
          </a:prstGeom>
          <a:solidFill>
            <a:srgbClr val="FD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" y="3831335"/>
            <a:ext cx="512064" cy="5120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F2A431"/>
                </a:solidFill>
                <a:latin typeface="Segoe MDL2 Assets"/>
                <a:ea typeface="Segoe MDL2 Assets"/>
                <a:cs typeface="Segoe MDL2 Assets"/>
              </a:rPr>
              <a:t>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00784" y="3831335"/>
            <a:ext cx="227075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2A431"/>
                </a:solidFill>
                <a:latin typeface="Segoe UI Semibold"/>
              </a:rPr>
              <a:t>Knowledge-graph retrieval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" y="4471416"/>
            <a:ext cx="2892552" cy="530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A5670"/>
                </a:solidFill>
                <a:latin typeface="Segoe UI"/>
              </a:rPr>
              <a:t>Semantic graphs for richer, cross-document grounding.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28744" y="3630168"/>
            <a:ext cx="3331464" cy="14904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648200" y="3831335"/>
            <a:ext cx="512064" cy="512064"/>
          </a:xfrm>
          <a:prstGeom prst="ellipse">
            <a:avLst/>
          </a:prstGeom>
          <a:solidFill>
            <a:srgbClr val="FCE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48200" y="3831335"/>
            <a:ext cx="512064" cy="5120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F0608A"/>
                </a:solidFill>
                <a:latin typeface="Segoe MDL2 Assets"/>
                <a:ea typeface="Segoe MDL2 Assets"/>
                <a:cs typeface="Segoe MDL2 Assets"/>
              </a:rPr>
              <a:t>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6567" y="3831335"/>
            <a:ext cx="227075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0608A"/>
                </a:solidFill>
                <a:latin typeface="Segoe UI Semibold"/>
              </a:rPr>
              <a:t>Broader test types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8200" y="4471416"/>
            <a:ext cx="2892552" cy="530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A5670"/>
                </a:solidFill>
                <a:latin typeface="Segoe UI"/>
              </a:rPr>
              <a:t>Extend beyond API to UI, performance &amp; security testing.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34527" y="3630168"/>
            <a:ext cx="3331464" cy="14904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253983" y="3831335"/>
            <a:ext cx="512064" cy="512064"/>
          </a:xfrm>
          <a:prstGeom prst="ellipse">
            <a:avLst/>
          </a:prstGeom>
          <a:solidFill>
            <a:srgbClr val="DF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53983" y="3831335"/>
            <a:ext cx="512064" cy="5120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600">
                <a:solidFill>
                  <a:srgbClr val="2F5FE0"/>
                </a:solidFill>
                <a:latin typeface="Segoe MDL2 Assets"/>
                <a:ea typeface="Segoe MDL2 Assets"/>
                <a:cs typeface="Segoe MDL2 Assets"/>
              </a:rPr>
              <a:t>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2352" y="3831335"/>
            <a:ext cx="2270759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2F5FE0"/>
                </a:solidFill>
                <a:latin typeface="Segoe UI Semibold"/>
              </a:rPr>
              <a:t>Cost &amp; latency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53983" y="4471416"/>
            <a:ext cx="2892552" cy="5303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4A5670"/>
                </a:solidFill>
                <a:latin typeface="Segoe UI"/>
              </a:rPr>
              <a:t>Optimise inference; on-prem private models for sensitive data.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Segoe UI"/>
              </a:rPr>
              <a:t>MS24901062  ·  Shanaka Madhusanka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5566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Consolas"/>
              </a:rPr>
              <a:t>31 / 33</a:t>
            </a:r>
          </a:p>
        </p:txBody>
      </p:sp>
      <p:sp>
        <p:nvSpPr>
          <p:cNvPr id="5" name="Oval 4"/>
          <p:cNvSpPr/>
          <p:nvPr/>
        </p:nvSpPr>
        <p:spPr>
          <a:xfrm>
            <a:off x="5684367" y="1828800"/>
            <a:ext cx="822960" cy="822960"/>
          </a:xfrm>
          <a:prstGeom prst="ellipse">
            <a:avLst/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84367" y="1828800"/>
            <a:ext cx="822960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700">
                <a:solidFill>
                  <a:srgbClr val="FFFFFF"/>
                </a:solidFill>
                <a:latin typeface="Segoe MDL2 Assets"/>
                <a:ea typeface="Segoe MDL2 Assets"/>
                <a:cs typeface="Segoe MDL2 Assets"/>
              </a:rPr>
              <a:t>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F5FE0"/>
                </a:solidFill>
                <a:latin typeface="Consolas"/>
              </a:rPr>
              <a:t>PART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03628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 i="0">
                <a:solidFill>
                  <a:srgbClr val="1F2A44"/>
                </a:solidFill>
                <a:latin typeface="Segoe UI Light"/>
              </a:rPr>
              <a:t>Conclusion &amp; Contributions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41367" y="4343400"/>
            <a:ext cx="1554480" cy="64008"/>
          </a:xfrm>
          <a:prstGeom prst="roundRect">
            <a:avLst>
              <a:gd name="adj" fmla="val 50000"/>
            </a:avLst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95847" y="4343400"/>
            <a:ext cx="1554480" cy="64008"/>
          </a:xfrm>
          <a:prstGeom prst="roundRect">
            <a:avLst>
              <a:gd name="adj" fmla="val 50000"/>
            </a:avLst>
          </a:prstGeom>
          <a:solidFill>
            <a:srgbClr val="12B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spd="med">
    <p:cover dir="l"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645566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Segoe UI"/>
              </a:rPr>
              <a:t>MS24901062  ·  Shanaka Madhusanka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6455664"/>
            <a:ext cx="3136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7C889F"/>
                </a:solidFill>
                <a:latin typeface="Consolas"/>
              </a:rPr>
              <a:t>32 /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7200"/>
            <a:ext cx="9144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2F5FE0"/>
                </a:solidFill>
                <a:latin typeface="Consolas"/>
              </a:rPr>
              <a:t>CONCLUSION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768096"/>
            <a:ext cx="603504" cy="45720"/>
          </a:xfrm>
          <a:prstGeom prst="roundRect">
            <a:avLst>
              <a:gd name="adj" fmla="val 50000"/>
            </a:avLst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950976"/>
            <a:ext cx="566928" cy="566928"/>
          </a:xfrm>
          <a:prstGeom prst="ellipse">
            <a:avLst/>
          </a:prstGeom>
          <a:solidFill>
            <a:srgbClr val="E1E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950976"/>
            <a:ext cx="566928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>
                <a:solidFill>
                  <a:srgbClr val="2F5FE0"/>
                </a:solidFill>
                <a:latin typeface="Segoe MDL2 Assets"/>
                <a:ea typeface="Segoe MDL2 Assets"/>
                <a:cs typeface="Segoe MDL2 Assets"/>
              </a:rPr>
              <a:t>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950976"/>
            <a:ext cx="96926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 i="0">
                <a:solidFill>
                  <a:srgbClr val="1F2A44"/>
                </a:solidFill>
                <a:latin typeface="Segoe UI Light"/>
              </a:rPr>
              <a:t>Retrieval + adaptation deliver the gains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28800"/>
            <a:ext cx="5852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4A5670"/>
                </a:solidFill>
                <a:latin typeface="Segoe UI"/>
              </a:rPr>
              <a:t>Generative AI — especially retrieval + domain adaptation — measurably improves automated test generation for enterprise backends: higher coverage, stronger defect detection &amp; more valid tests.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2A44"/>
                </a:solidFill>
                <a:latin typeface="Segoe UI Semibold"/>
              </a:rPr>
              <a:t>Research contributions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127248"/>
            <a:ext cx="5852160" cy="5486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0976" y="3209544"/>
            <a:ext cx="384048" cy="384048"/>
          </a:xfrm>
          <a:prstGeom prst="ellipse">
            <a:avLst/>
          </a:prstGeom>
          <a:solidFill>
            <a:srgbClr val="DF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3209544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2F5FE0"/>
                </a:solidFill>
                <a:latin typeface="Segoe MDL2 Assets"/>
                <a:ea typeface="Segoe MDL2 Assets"/>
                <a:cs typeface="Segoe MDL2 Assets"/>
              </a:rPr>
              <a:t>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3127248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2F5FE0"/>
                </a:solidFill>
                <a:latin typeface="Segoe UI Semibold"/>
              </a:rPr>
              <a:t>Conceptual — </a:t>
            </a:r>
            <a:r>
              <a:rPr sz="1050" b="0" i="0">
                <a:solidFill>
                  <a:srgbClr val="4A5670"/>
                </a:solidFill>
                <a:latin typeface="Segoe UI"/>
              </a:rPr>
              <a:t>modular AI-augmented testing framework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85615"/>
            <a:ext cx="5852160" cy="5486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50976" y="3867911"/>
            <a:ext cx="384048" cy="384048"/>
          </a:xfrm>
          <a:prstGeom prst="ellipse">
            <a:avLst/>
          </a:prstGeom>
          <a:solidFill>
            <a:srgbClr val="D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3867911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12B3A0"/>
                </a:solidFill>
                <a:latin typeface="Segoe MDL2 Assets"/>
                <a:ea typeface="Segoe MDL2 Assets"/>
                <a:cs typeface="Segoe MDL2 Assets"/>
              </a:rPr>
              <a:t>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3785615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2B3A0"/>
                </a:solidFill>
                <a:latin typeface="Segoe UI Semibold"/>
              </a:rPr>
              <a:t>Methodological — </a:t>
            </a:r>
            <a:r>
              <a:rPr sz="1050" b="0" i="0">
                <a:solidFill>
                  <a:srgbClr val="4A5670"/>
                </a:solidFill>
                <a:latin typeface="Segoe UI"/>
              </a:rPr>
              <a:t>first like-for-like comparison of 5 AI configs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443983"/>
            <a:ext cx="5852160" cy="5486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0976" y="4526279"/>
            <a:ext cx="384048" cy="384048"/>
          </a:xfrm>
          <a:prstGeom prst="ellipse">
            <a:avLst/>
          </a:prstGeom>
          <a:solidFill>
            <a:srgbClr val="EDE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4526279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8A6CF0"/>
                </a:solidFill>
                <a:latin typeface="Segoe MDL2 Assets"/>
                <a:ea typeface="Segoe MDL2 Assets"/>
                <a:cs typeface="Segoe MDL2 Assets"/>
              </a:rPr>
              <a:t>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81328" y="4443983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8A6CF0"/>
                </a:solidFill>
                <a:latin typeface="Segoe UI Semibold"/>
              </a:rPr>
              <a:t>Empirical — </a:t>
            </a:r>
            <a:r>
              <a:rPr sz="1050" b="0" i="0">
                <a:solidFill>
                  <a:srgbClr val="4A5670"/>
                </a:solidFill>
                <a:latin typeface="Segoe UI"/>
              </a:rPr>
              <a:t>coverage + mutation + execution validity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102351"/>
            <a:ext cx="5852160" cy="54864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4E8F0"/>
            </a:solidFill>
          </a:ln>
          <a:effectLst>
            <a:outerShdw blurRad="90000" dist="38000" dir="5400000" rotWithShape="0">
              <a:srgbClr val="1F2A44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" y="5184647"/>
            <a:ext cx="384048" cy="384048"/>
          </a:xfrm>
          <a:prstGeom prst="ellipse">
            <a:avLst/>
          </a:prstGeom>
          <a:solidFill>
            <a:srgbClr val="FD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5184647"/>
            <a:ext cx="384048" cy="3840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F2A431"/>
                </a:solidFill>
                <a:latin typeface="Segoe MDL2 Assets"/>
                <a:ea typeface="Segoe MDL2 Assets"/>
                <a:cs typeface="Segoe MDL2 Assets"/>
              </a:rPr>
              <a:t>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102351"/>
            <a:ext cx="5120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2A431"/>
                </a:solidFill>
                <a:latin typeface="Segoe UI Semibold"/>
              </a:rPr>
              <a:t>Practical — </a:t>
            </a:r>
            <a:r>
              <a:rPr sz="1050" b="0" i="0">
                <a:solidFill>
                  <a:srgbClr val="4A5670"/>
                </a:solidFill>
                <a:latin typeface="Segoe UI"/>
              </a:rPr>
              <a:t>embeddable .NET prototype with CI/CD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1828800"/>
            <a:ext cx="405079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7C889F"/>
                </a:solidFill>
                <a:latin typeface="Segoe UI Semibold"/>
              </a:rPr>
              <a:t>Best configuration — LoRA + RAG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7315200" y="2194560"/>
          <a:ext cx="4050792" cy="2523744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743200"/>
                <a:gridCol w="1307592"/>
              </a:tblGrid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Metric</a:t>
                      </a:r>
                    </a:p>
                  </a:txBody>
                  <a:tcPr anchor="ctr" marL="109728">
                    <a:solidFill>
                      <a:srgbClr val="1721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Score</a:t>
                      </a:r>
                    </a:p>
                  </a:txBody>
                  <a:tcPr anchor="ctr" marL="109728">
                    <a:solidFill>
                      <a:srgbClr val="17214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44"/>
                          </a:solidFill>
                          <a:latin typeface="Consolas"/>
                        </a:rPr>
                        <a:t>Line coverage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88%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44"/>
                          </a:solidFill>
                          <a:latin typeface="Consolas"/>
                        </a:rPr>
                        <a:t>Branch coverage</a:t>
                      </a:r>
                    </a:p>
                  </a:txBody>
                  <a:tcPr anchor="ctr" marL="109728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84%</a:t>
                      </a:r>
                    </a:p>
                  </a:txBody>
                  <a:tcPr anchor="ctr" marL="109728">
                    <a:solidFill>
                      <a:srgbClr val="FAFBF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44"/>
                          </a:solidFill>
                          <a:latin typeface="Consolas"/>
                        </a:rPr>
                        <a:t>Endpoint coverage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91%</a:t>
                      </a:r>
                    </a:p>
                  </a:txBody>
                  <a:tcPr anchor="ctr" marL="10972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2A44"/>
                          </a:solidFill>
                          <a:latin typeface="Consolas"/>
                        </a:rPr>
                        <a:t>Mutation detection</a:t>
                      </a:r>
                    </a:p>
                  </a:txBody>
                  <a:tcPr anchor="ctr" marL="109728">
                    <a:solidFill>
                      <a:srgbClr val="FAFB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80%</a:t>
                      </a:r>
                    </a:p>
                  </a:txBody>
                  <a:tcPr anchor="ctr" marL="109728">
                    <a:solidFill>
                      <a:srgbClr val="FAFBF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2B3A0"/>
                          </a:solidFill>
                          <a:latin typeface="Consolas"/>
                        </a:rPr>
                        <a:t>Execution validity</a:t>
                      </a:r>
                    </a:p>
                  </a:txBody>
                  <a:tcPr anchor="ctr" marL="109728">
                    <a:solidFill>
                      <a:srgbClr val="EAFA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4A5670"/>
                          </a:solidFill>
                          <a:latin typeface="Segoe UI"/>
                        </a:rPr>
                        <a:t>97%</a:t>
                      </a:r>
                    </a:p>
                  </a:txBody>
                  <a:tcPr anchor="ctr" marL="109728">
                    <a:solidFill>
                      <a:srgbClr val="EAFA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684367" y="1600200"/>
            <a:ext cx="822960" cy="822960"/>
          </a:xfrm>
          <a:prstGeom prst="ellipse">
            <a:avLst/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84367" y="1600200"/>
            <a:ext cx="822960" cy="8229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2700">
                <a:solidFill>
                  <a:srgbClr val="FFFFFF"/>
                </a:solidFill>
                <a:latin typeface="Segoe MDL2 Assets"/>
                <a:ea typeface="Segoe MDL2 Assets"/>
                <a:cs typeface="Segoe MDL2 Assets"/>
              </a:rPr>
              <a:t>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F5FE0"/>
                </a:solidFill>
                <a:latin typeface="Consola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71800"/>
            <a:ext cx="103628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1F2A44"/>
                </a:solidFill>
                <a:latin typeface="Segoe UI Light"/>
              </a:rPr>
              <a:t>Questions &amp; Discussion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41367" y="4069080"/>
            <a:ext cx="1554480" cy="64008"/>
          </a:xfrm>
          <a:prstGeom prst="roundRect">
            <a:avLst>
              <a:gd name="adj" fmla="val 50000"/>
            </a:avLst>
          </a:prstGeom>
          <a:solidFill>
            <a:srgbClr val="2F5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95847" y="4069080"/>
            <a:ext cx="1554480" cy="64008"/>
          </a:xfrm>
          <a:prstGeom prst="roundRect">
            <a:avLst>
              <a:gd name="adj" fmla="val 50000"/>
            </a:avLst>
          </a:prstGeom>
          <a:solidFill>
            <a:srgbClr val="12B3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103628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4A5670"/>
                </a:solidFill>
                <a:latin typeface="Segoe UI"/>
              </a:rPr>
              <a:t>Shanaka Madhusanka  ·  MS24901062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7C889F"/>
                </a:solidFill>
                <a:latin typeface="Segoe UI"/>
              </a:rPr>
              <a:t>Supervisor: Dr. Dinuka R. Wijendra  ·  SLIIT  ·  MSc in IT (EAD)  ·  May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5257800"/>
            <a:ext cx="502005" cy="310896"/>
          </a:xfrm>
          <a:prstGeom prst="roundRect">
            <a:avLst>
              <a:gd name="adj" fmla="val 50000"/>
            </a:avLst>
          </a:prstGeom>
          <a:solidFill>
            <a:srgbClr val="EAEFFB"/>
          </a:solidFill>
          <a:ln w="9525">
            <a:solidFill>
              <a:srgbClr val="ABBF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5257800"/>
            <a:ext cx="50200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2F5FE0"/>
                </a:solidFill>
                <a:latin typeface="Consolas"/>
              </a:rPr>
              <a:t>LLM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72253" y="5257800"/>
            <a:ext cx="502005" cy="310896"/>
          </a:xfrm>
          <a:prstGeom prst="roundRect">
            <a:avLst>
              <a:gd name="adj" fmla="val 50000"/>
            </a:avLst>
          </a:prstGeom>
          <a:solidFill>
            <a:srgbClr val="E7F7F5"/>
          </a:solidFill>
          <a:ln w="9525">
            <a:solidFill>
              <a:srgbClr val="A0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2253" y="5257800"/>
            <a:ext cx="50200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2B3A0"/>
                </a:solidFill>
                <a:latin typeface="Consolas"/>
              </a:rPr>
              <a:t>RAG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83987" y="5257800"/>
            <a:ext cx="729691" cy="310896"/>
          </a:xfrm>
          <a:prstGeom prst="roundRect">
            <a:avLst>
              <a:gd name="adj" fmla="val 50000"/>
            </a:avLst>
          </a:prstGeom>
          <a:solidFill>
            <a:srgbClr val="FDF5EA"/>
          </a:solidFill>
          <a:ln w="9525">
            <a:solidFill>
              <a:srgbClr val="F9DA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83987" y="5257800"/>
            <a:ext cx="72969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2A431"/>
                </a:solidFill>
                <a:latin typeface="Consolas"/>
              </a:rPr>
              <a:t>HYBRID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406" y="5257800"/>
            <a:ext cx="577900" cy="310896"/>
          </a:xfrm>
          <a:prstGeom prst="roundRect">
            <a:avLst>
              <a:gd name="adj" fmla="val 50000"/>
            </a:avLst>
          </a:prstGeom>
          <a:solidFill>
            <a:srgbClr val="F3F0FD"/>
          </a:solidFill>
          <a:ln w="9525">
            <a:solidFill>
              <a:srgbClr val="D0C4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3406" y="5257800"/>
            <a:ext cx="5779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6CF0"/>
                </a:solidFill>
                <a:latin typeface="Consolas"/>
              </a:rPr>
              <a:t>LoRA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11035" y="5257800"/>
            <a:ext cx="1033272" cy="310896"/>
          </a:xfrm>
          <a:prstGeom prst="roundRect">
            <a:avLst>
              <a:gd name="adj" fmla="val 50000"/>
            </a:avLst>
          </a:prstGeom>
          <a:solidFill>
            <a:srgbClr val="FDEFF3"/>
          </a:solidFill>
          <a:ln w="9525">
            <a:solidFill>
              <a:srgbClr val="F9B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11035" y="5257800"/>
            <a:ext cx="103327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0608A"/>
                </a:solidFill>
                <a:latin typeface="Consolas"/>
              </a:rPr>
              <a:t>LoRA + RAG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